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a77ce4414475a" /><Relationship Type="http://schemas.openxmlformats.org/officeDocument/2006/relationships/extended-properties" Target="/docProps/app.xml" Id="R9255be5c5aae4d4e" /><Relationship Type="http://schemas.openxmlformats.org/officeDocument/2006/relationships/officeDocument" Target="/ppt/presentation.xml" Id="Ra57840db9e874a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f96eaa3f741fb"/>
  </p:sldMasterIdLst>
  <p:notesMasterIdLst>
    <p:notesMasterId xmlns:r="http://schemas.openxmlformats.org/officeDocument/2006/relationships" r:id="Rf46d3c853fae4019"/>
  </p:notesMasterIdLst>
  <p:sldIdLst>
    <p:sldId xmlns:r="http://schemas.openxmlformats.org/officeDocument/2006/relationships" id="256" r:id="Rb03b2ec3c1984e2d"/>
    <p:sldId xmlns:r="http://schemas.openxmlformats.org/officeDocument/2006/relationships" id="257" r:id="Rc85980287e81462a"/>
    <p:sldId xmlns:r="http://schemas.openxmlformats.org/officeDocument/2006/relationships" id="258" r:id="Rca948a5502914058"/>
    <p:sldId xmlns:r="http://schemas.openxmlformats.org/officeDocument/2006/relationships" id="259" r:id="R866509e3c8f4400d"/>
    <p:sldId xmlns:r="http://schemas.openxmlformats.org/officeDocument/2006/relationships" id="260" r:id="Rca0e838d58ed4642"/>
    <p:sldId xmlns:r="http://schemas.openxmlformats.org/officeDocument/2006/relationships" id="261" r:id="Rb32ae17c9b134ef4"/>
    <p:sldId xmlns:r="http://schemas.openxmlformats.org/officeDocument/2006/relationships" id="262" r:id="R61a7315a8d05439e"/>
    <p:sldId xmlns:r="http://schemas.openxmlformats.org/officeDocument/2006/relationships" id="263" r:id="R07ccbf0895ef4ea0"/>
    <p:sldId xmlns:r="http://schemas.openxmlformats.org/officeDocument/2006/relationships" id="264" r:id="R7a1b3ff954494f86"/>
    <p:sldId xmlns:r="http://schemas.openxmlformats.org/officeDocument/2006/relationships" id="265" r:id="R84a70b7dc9034904"/>
    <p:sldId xmlns:r="http://schemas.openxmlformats.org/officeDocument/2006/relationships" id="266" r:id="R22fdb78d1be54745"/>
    <p:sldId xmlns:r="http://schemas.openxmlformats.org/officeDocument/2006/relationships" id="267" r:id="R9463465ebcfb4a6d"/>
    <p:sldId xmlns:r="http://schemas.openxmlformats.org/officeDocument/2006/relationships" id="268" r:id="Rabe343dc020440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ac16b1ee7a48f8" /><Relationship Type="http://schemas.openxmlformats.org/officeDocument/2006/relationships/slideMaster" Target="/ppt/slideMasters/slideMaster1.xml" Id="Rbe1f96eaa3f741fb" /><Relationship Type="http://schemas.openxmlformats.org/officeDocument/2006/relationships/notesMaster" Target="/ppt/notesMasters/notesMaster1.xml" Id="Rf46d3c853fae4019" /><Relationship Type="http://schemas.openxmlformats.org/officeDocument/2006/relationships/presProps" Target="/ppt/presProps.xml" Id="R1110bbba7ed044a3" /><Relationship Type="http://schemas.openxmlformats.org/officeDocument/2006/relationships/tableStyles" Target="/ppt/tableStyles.xml" Id="R58f21beb31f9424b" /><Relationship Type="http://schemas.openxmlformats.org/officeDocument/2006/relationships/slide" Target="/ppt/slides/slide1.xml" Id="Rb03b2ec3c1984e2d" /><Relationship Type="http://schemas.openxmlformats.org/officeDocument/2006/relationships/slide" Target="/ppt/slides/slide2.xml" Id="Rc85980287e81462a" /><Relationship Type="http://schemas.openxmlformats.org/officeDocument/2006/relationships/slide" Target="/ppt/slides/slide3.xml" Id="Rca948a5502914058" /><Relationship Type="http://schemas.openxmlformats.org/officeDocument/2006/relationships/slide" Target="/ppt/slides/slide4.xml" Id="R866509e3c8f4400d" /><Relationship Type="http://schemas.openxmlformats.org/officeDocument/2006/relationships/slide" Target="/ppt/slides/slide5.xml" Id="Rca0e838d58ed4642" /><Relationship Type="http://schemas.openxmlformats.org/officeDocument/2006/relationships/slide" Target="/ppt/slides/slide6.xml" Id="Rb32ae17c9b134ef4" /><Relationship Type="http://schemas.openxmlformats.org/officeDocument/2006/relationships/slide" Target="/ppt/slides/slide7.xml" Id="R61a7315a8d05439e" /><Relationship Type="http://schemas.openxmlformats.org/officeDocument/2006/relationships/slide" Target="/ppt/slides/slide8.xml" Id="R07ccbf0895ef4ea0" /><Relationship Type="http://schemas.openxmlformats.org/officeDocument/2006/relationships/slide" Target="/ppt/slides/slide9.xml" Id="R7a1b3ff954494f86" /><Relationship Type="http://schemas.openxmlformats.org/officeDocument/2006/relationships/slide" Target="/ppt/slides/slide10.xml" Id="R84a70b7dc9034904" /><Relationship Type="http://schemas.openxmlformats.org/officeDocument/2006/relationships/slide" Target="/ppt/slides/slide11.xml" Id="R22fdb78d1be54745" /><Relationship Type="http://schemas.openxmlformats.org/officeDocument/2006/relationships/slide" Target="/ppt/slides/slide12.xml" Id="R9463465ebcfb4a6d" /><Relationship Type="http://schemas.openxmlformats.org/officeDocument/2006/relationships/slide" Target="/ppt/slides/slide13.xml" Id="Rabe343dc0204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7e8fbf26c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de205ade44f31" /><Relationship Type="http://schemas.openxmlformats.org/officeDocument/2006/relationships/notesMaster" Target="/ppt/notesMasters/notesMaster1.xml" Id="R932eeca518c1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df0d2c8bd44375" /><Relationship Type="http://schemas.openxmlformats.org/officeDocument/2006/relationships/notesMaster" Target="/ppt/notesMasters/notesMaster1.xml" Id="R7d8f3050a9cb47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a71885c2e44ac" /><Relationship Type="http://schemas.openxmlformats.org/officeDocument/2006/relationships/notesMaster" Target="/ppt/notesMasters/notesMaster1.xml" Id="R161a4211f7ca4d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74651e3a3444d" /><Relationship Type="http://schemas.openxmlformats.org/officeDocument/2006/relationships/notesMaster" Target="/ppt/notesMasters/notesMaster1.xml" Id="Rbb8b017a78d340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f7c9d6798b43a9" /><Relationship Type="http://schemas.openxmlformats.org/officeDocument/2006/relationships/notesMaster" Target="/ppt/notesMasters/notesMaster1.xml" Id="Re54bfdff15f7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b5327a5ac461b" /><Relationship Type="http://schemas.openxmlformats.org/officeDocument/2006/relationships/notesMaster" Target="/ppt/notesMasters/notesMaster1.xml" Id="Rb54cb79952bc43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a023cecf664ffb" /><Relationship Type="http://schemas.openxmlformats.org/officeDocument/2006/relationships/notesMaster" Target="/ppt/notesMasters/notesMaster1.xml" Id="R22786e6aa8cf41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2df3a06071457e" /><Relationship Type="http://schemas.openxmlformats.org/officeDocument/2006/relationships/notesMaster" Target="/ppt/notesMasters/notesMaster1.xml" Id="R9df4173330434a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14ef5807cb4589" /><Relationship Type="http://schemas.openxmlformats.org/officeDocument/2006/relationships/notesMaster" Target="/ppt/notesMasters/notesMaster1.xml" Id="Rffd1f28430ab47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9d86b6155b4fb6" /><Relationship Type="http://schemas.openxmlformats.org/officeDocument/2006/relationships/notesMaster" Target="/ppt/notesMasters/notesMaster1.xml" Id="Ra7d620fc8f4c46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f8d278be034372" /><Relationship Type="http://schemas.openxmlformats.org/officeDocument/2006/relationships/notesMaster" Target="/ppt/notesMasters/notesMaster1.xml" Id="R36a9f7edea5f44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046bb1ef4342e2" /><Relationship Type="http://schemas.openxmlformats.org/officeDocument/2006/relationships/notesMaster" Target="/ppt/notesMasters/notesMaster1.xml" Id="R961348f3058f4c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286bdedd2e4474" /><Relationship Type="http://schemas.openxmlformats.org/officeDocument/2006/relationships/notesMaster" Target="/ppt/notesMasters/notesMaster1.xml" Id="R4a42b5ff831e49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this is not a report readout. It is the adoption story the team can use to align and rehearse.</a:t>
            </a:r>
          </a:p>
          <a:p xmlns:a="http://schemas.openxmlformats.org/drawingml/2006/main">
            <a:r>
              <a:t>Frame the meeting goal: decide who we target first, how we bring them in, and what evidence we need next.</a:t>
            </a:r>
          </a:p>
          <a:p xmlns:a="http://schemas.openxmlformats.org/drawingml/2006/main">
            <a:r>
              <a:t>Morph cue: keep this cover object set as the stable beginning of the briefing.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anchor urgency. The source cites WHO 2023 and 3,113 deaths in Cambodia in 2021.</a:t>
            </a:r>
          </a:p>
          <a:p xmlns:a="http://schemas.openxmlformats.org/drawingml/2006/main">
            <a:r>
              <a:t>Make the point that the product is not only content. It must create repeated practice and teacher visibility.</a:t>
            </a:r>
          </a:p>
          <a:p xmlns:a="http://schemas.openxmlformats.org/drawingml/2006/main">
            <a:r>
              <a:t>Avoid overclaiming impact. The current evidence supports a need and early willingness, not proven national outcomes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adoption thesis in one sentence: teachers unlock groups, students create daily usage, and progress reports give teachers a reason to renew.</a:t>
            </a:r>
          </a:p>
          <a:p xmlns:a="http://schemas.openxmlformats.org/drawingml/2006/main">
            <a:r>
              <a:t>The study highlights three drivers: teacher class invite codes, leaderboard and streak mechanics, and rewards that create student demand.</a:t>
            </a:r>
          </a:p>
          <a:p xmlns:a="http://schemas.openxmlformats.org/drawingml/2006/main">
            <a:r>
              <a:t>Morph cue: these four loop objects are named for PowerPoint Morph matching across later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estimates 6.4 million students, 120,000 teachers, 48,000 daily digital teachers, 1.2 million parent smartphone users, and over 1 million driving candidates yearly.</a:t>
            </a:r>
          </a:p>
          <a:p xmlns:a="http://schemas.openxmlformats.org/drawingml/2006/main">
            <a:r>
              <a:t>For team planning, do not try to reach everyone first. Teachers are the acquisition wedge because one teacher can activate many students.</a:t>
            </a:r>
          </a:p>
          <a:p xmlns:a="http://schemas.openxmlformats.org/drawingml/2006/main">
            <a:r>
              <a:t>The chart uses millions for comparison, so call out that teacher counts are much smaller but more reachable.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walkthrough script. The path is website, registration or class code, learn, play, Suar AI, leaderboard.</a:t>
            </a:r>
          </a:p>
          <a:p xmlns:a="http://schemas.openxmlformats.org/drawingml/2006/main">
            <a:r>
              <a:t>The most adoption-critical step is class code because it helps students who do not have email.</a:t>
            </a:r>
          </a:p>
          <a:p xmlns:a="http://schemas.openxmlformats.org/drawingml/2006/main">
            <a:r>
              <a:t>Ask the team whether the current product can complete this path smoothly on a phone.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because it shows the team listened and changed direction.</a:t>
            </a:r>
          </a:p>
          <a:p xmlns:a="http://schemas.openxmlformats.org/drawingml/2006/main">
            <a:r>
              <a:t>Present the changes as evidence of learning, not as final validation.</a:t>
            </a:r>
          </a:p>
          <a:p xmlns:a="http://schemas.openxmlformats.org/drawingml/2006/main">
            <a:r>
              <a:t>If judges ask what feedback was not acted on, say full offline mode is deferred to year 2 after speed and data usage are 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uses a combined growth model: teachers and classrooms from the bottom up, institutional partners from the top down.</a:t>
            </a:r>
          </a:p>
          <a:p xmlns:a="http://schemas.openxmlformats.org/drawingml/2006/main">
            <a:r>
              <a:t>When presenting, make the channel sequence clear: demo, trial, referral, short content, partner credibility.</a:t>
            </a:r>
          </a:p>
          <a:p xmlns:a="http://schemas.openxmlformats.org/drawingml/2006/main">
            <a:r>
              <a:t>A practical team decision is who owns each channel this month.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separate acquisition from retention. Acquisition gets teachers and students in. Retention makes them repeat.</a:t>
            </a:r>
          </a:p>
          <a:p xmlns:a="http://schemas.openxmlformats.org/drawingml/2006/main">
            <a:r>
              <a:t>The source names leaderboard, streak, avatar, rewards, weekly and monthly competitions, and teacher reporting as retention levers.</a:t>
            </a:r>
          </a:p>
          <a:p xmlns:a="http://schemas.openxmlformats.org/drawingml/2006/main">
            <a:r>
              <a:t>Morph cue: this slide reuses loop thinking from slide 3 but turns it into retention mechanisms.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pricing ladder is Free, Family, Teacher Pro, School, and Driving School.</a:t>
            </a:r>
          </a:p>
          <a:p xmlns:a="http://schemas.openxmlformats.org/drawingml/2006/main">
            <a:r>
              <a:t>Teacher Pro is presented as the most popular plan in the source, so emphasize it as the conversion wedge.</a:t>
            </a:r>
          </a:p>
          <a:p xmlns:a="http://schemas.openxmlformats.org/drawingml/2006/main">
            <a:r>
              <a:t>The team should validate which upgrade trigger users actually value first: reports, competitions, parent tracking, or mock exams.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careful with this slide. These are forward projections from the study, not historical results.</a:t>
            </a:r>
          </a:p>
          <a:p xmlns:a="http://schemas.openxmlformats.org/drawingml/2006/main">
            <a:r>
              <a:t>The source projects ARR of $12,360, $31,000, and $62,000, with costs of $80, $300, and $900.</a:t>
            </a:r>
          </a:p>
          <a:p xmlns:a="http://schemas.openxmlformats.org/drawingml/2006/main">
            <a:r>
              <a:t>The team should be ready to explain why 100 paying subscribers in year one is plausible and what evidence is still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roadmap gives the team a simple year-by-year story: prove, formalize, scale.</a:t>
            </a:r>
          </a:p>
          <a:p xmlns:a="http://schemas.openxmlformats.org/drawingml/2006/main">
            <a:r>
              <a:t>The source lists 2026 beta, 2027 full school and AI v2, and 2028 institutional expansion with SSO/API and initial B2G work.</a:t>
            </a:r>
          </a:p>
          <a:p xmlns:a="http://schemas.openxmlformats.org/drawingml/2006/main">
            <a:r>
              <a:t>Tie every roadmap item back to adoption evidence, not feature ambition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working slide during the team discussion.</a:t>
            </a:r>
          </a:p>
          <a:p xmlns:a="http://schemas.openxmlformats.org/drawingml/2006/main">
            <a:r>
              <a:t>Push for named owners and dates. Otherwise the adoption plan remains a document instead of a learning loop.</a:t>
            </a:r>
          </a:p>
          <a:p xmlns:a="http://schemas.openxmlformats.org/drawingml/2006/main">
            <a:r>
              <a:t>Suggested metrics: activation rate, day-7 return, teacher class creation, number of students per class, and stated upgrade intent.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includes a long Q and A bank. This slide selects the questions most tied to user adoption.</a:t>
            </a:r>
          </a:p>
          <a:p xmlns:a="http://schemas.openxmlformats.org/drawingml/2006/main">
            <a:r>
              <a:t>Remind the team to answer in short, translation-friendly sentences. The source explicitly recommends answers under 30 seconds.</a:t>
            </a:r>
          </a:p>
          <a:p xmlns:a="http://schemas.openxmlformats.org/drawingml/2006/main">
            <a:r>
              <a:t>Practice owner routing: statistics, technical, business, users, and ethics.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746eaec8844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48840e20e46f2" /><Relationship Type="http://schemas.openxmlformats.org/officeDocument/2006/relationships/slideLayout" Target="/ppt/slideLayouts/slideLayout1.xml" Id="R488ecf89975040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ecf89975040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052058fe14fad" /><Relationship Type="http://schemas.openxmlformats.org/officeDocument/2006/relationships/notesSlide" Target="/ppt/notesSlides/notesSlide1.xml" Id="R7cc0c2ef6904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4b39eee564188" /><Relationship Type="http://schemas.openxmlformats.org/officeDocument/2006/relationships/notesSlide" Target="/ppt/notesSlides/notesSlide2.xml" Id="R28bcc5a7a14b43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75a20e3e34045" /><Relationship Type="http://schemas.openxmlformats.org/officeDocument/2006/relationships/notesSlide" Target="/ppt/notesSlides/notesSlide3.xml" Id="R20229114558d49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62882bc654858" /><Relationship Type="http://schemas.openxmlformats.org/officeDocument/2006/relationships/chart" Target="/ppt/slides/charts/chart1.xml" Id="R767979d601a84a76" /><Relationship Type="http://schemas.openxmlformats.org/officeDocument/2006/relationships/notesSlide" Target="/ppt/notesSlides/notesSlide4.xml" Id="Rc583c2df417c41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c5132ad994986" /><Relationship Type="http://schemas.openxmlformats.org/officeDocument/2006/relationships/notesSlide" Target="/ppt/notesSlides/notesSlide5.xml" Id="Rdc72d02ce0534a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69cf6096e49a6" /><Relationship Type="http://schemas.openxmlformats.org/officeDocument/2006/relationships/notesSlide" Target="/ppt/notesSlides/notesSlide6.xml" Id="R5f774fcfe9d34e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5a30b4d2444b5" /><Relationship Type="http://schemas.openxmlformats.org/officeDocument/2006/relationships/notesSlide" Target="/ppt/notesSlides/notesSlide7.xml" Id="R21e7d38159ed4f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b17ca7434710" /><Relationship Type="http://schemas.openxmlformats.org/officeDocument/2006/relationships/notesSlide" Target="/ppt/notesSlides/notesSlide8.xml" Id="Rdfb43de9f4bf4a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ca2bf94114e51" /><Relationship Type="http://schemas.openxmlformats.org/officeDocument/2006/relationships/notesSlide" Target="/ppt/notesSlides/notesSlide9.xml" Id="R72a37b22727d4d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7d7b7cb1b46e9" /><Relationship Type="http://schemas.openxmlformats.org/officeDocument/2006/relationships/chart" Target="/ppt/slides/charts/chart2.xml" Id="R57040c08851c4aea" /><Relationship Type="http://schemas.openxmlformats.org/officeDocument/2006/relationships/notesSlide" Target="/ppt/notesSlides/notesSlide10.xml" Id="Rd23624bbdb4f48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3b565b66c4ea5" /><Relationship Type="http://schemas.openxmlformats.org/officeDocument/2006/relationships/notesSlide" Target="/ppt/notesSlides/notesSlide11.xml" Id="R250fbe016a0345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e1b84f9104a20" /><Relationship Type="http://schemas.openxmlformats.org/officeDocument/2006/relationships/notesSlide" Target="/ppt/notesSlides/notesSlide12.xml" Id="R2ef230c73a0c43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bd05dab244080" /><Relationship Type="http://schemas.openxmlformats.org/officeDocument/2006/relationships/notesSlide" Target="/ppt/notesSlides/notesSlide13.xml" Id="R48e65d01153f43a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Audience estimate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Students 12-18</c:v>
              </c:pt>
              <c:pt idx="1">
                <c:v>Teachers total</c:v>
              </c:pt>
              <c:pt idx="2">
                <c:v>Teachers digital</c:v>
              </c:pt>
              <c:pt idx="3">
                <c:v>Parents smartphone</c:v>
              </c:pt>
              <c:pt idx="4">
                <c:v>Driving candidates</c:v>
              </c:pt>
            </c:strLit>
          </c:cat>
          <c:val>
            <c:numLit>
              <c:formatCode>General</c:formatCode>
              <c:ptCount val="5"/>
              <c:pt idx="0">
                <c:v>6.4</c:v>
              </c:pt>
              <c:pt idx="1">
                <c:v>0.12</c:v>
              </c:pt>
              <c:pt idx="2">
                <c:v>0.048</c:v>
              </c:pt>
              <c:pt idx="3">
                <c:v>1.2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5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0B0B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>$#,##0</c:formatCode>
              <c:ptCount val="3"/>
              <c:pt idx="0">
                <c:v>12360</c:v>
              </c:pt>
              <c:pt idx="1">
                <c:v>31000</c:v>
              </c:pt>
              <c:pt idx="2">
                <c:v>62000</c:v>
              </c:pt>
            </c:numLit>
          </c:val>
        </c:ser>
        <c:ser>
          <c:idx val="1"/>
          <c:order val="1"/>
          <c:tx>
            <c:v>Net profit</c:v>
          </c:tx>
          <c:spPr>
            <a:solidFill xmlns:a="http://schemas.openxmlformats.org/drawingml/2006/main">
              <a:srgbClr val="16A34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>$#,##0</c:formatCode>
              <c:ptCount val="3"/>
              <c:pt idx="0">
                <c:v>12310</c:v>
              </c:pt>
              <c:pt idx="1">
                <c:v>30700</c:v>
              </c:pt>
              <c:pt idx="2">
                <c:v>61100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0B0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5E4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262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B0B0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cover-yellow-block">
            <a:extLst xmlns:a="http://schemas.openxmlformats.org/drawingml/2006/main">
              <a:ext uri="{FF2B5EF4-FFF2-40B4-BE49-F238E27FC236}">
                <a16:creationId xmlns:a16="http://schemas.microsoft.com/office/drawing/2014/main" id="{A6095A7A-2EB1-40EA-B08A-4591B0E2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2" name="!!cover-white-rule">
            <a:extLst xmlns:a="http://schemas.openxmlformats.org/drawingml/2006/main">
              <a:ext uri="{FF2B5EF4-FFF2-40B4-BE49-F238E27FC236}">
                <a16:creationId xmlns:a16="http://schemas.microsoft.com/office/drawing/2014/main" id="{1D497180-0921-4573-AFF0-EB9FAEDD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!!cover-wordmark">
            <a:extLst xmlns:a="http://schemas.openxmlformats.org/drawingml/2006/main">
              <a:ext uri="{FF2B5EF4-FFF2-40B4-BE49-F238E27FC236}">
                <a16:creationId xmlns:a16="http://schemas.microsoft.com/office/drawing/2014/main" id="{5F9A4E51-0882-49B8-B8B4-C8320160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4" name="!!cover-kicker">
            <a:extLst xmlns:a="http://schemas.openxmlformats.org/drawingml/2006/main">
              <a:ext uri="{FF2B5EF4-FFF2-40B4-BE49-F238E27FC236}">
                <a16:creationId xmlns:a16="http://schemas.microsoft.com/office/drawing/2014/main" id="{E0276978-22B2-4A83-BF10-B9E4A15B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95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AB30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B308"/>
                </a:solidFill>
                <a:latin typeface="Aptos"/>
                <a:ea typeface="Aptos"/>
                <a:cs typeface="Aptos"/>
              </a:rPr>
              <a:t>USER ADOPTION PLAN STUDY</a:t>
            </a:r>
          </a:p>
        </p:txBody>
      </p:sp>
      <p:sp>
        <p:nvSpPr>
          <p:cNvPr id="5" name="!!cover-title">
            <a:extLst xmlns:a="http://schemas.openxmlformats.org/drawingml/2006/main">
              <a:ext uri="{FF2B5EF4-FFF2-40B4-BE49-F238E27FC236}">
                <a16:creationId xmlns:a16="http://schemas.microsoft.com/office/drawing/2014/main" id="{5585B1D4-93C9-4FA4-9AB1-796B1DA4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57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Team briefing deck</a:t>
            </a:r>
          </a:p>
        </p:txBody>
      </p:sp>
      <p:sp>
        <p:nvSpPr>
          <p:cNvPr id="6" name="!!cover-subtitle">
            <a:extLst xmlns:a="http://schemas.openxmlformats.org/drawingml/2006/main">
              <a:ext uri="{FF2B5EF4-FFF2-40B4-BE49-F238E27FC236}">
                <a16:creationId xmlns:a16="http://schemas.microsoft.com/office/drawing/2014/main" id="{28B9510A-42EA-481E-AD95-836759B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95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Kesararam With Digital - The Way of Safety</a:t>
            </a:r>
          </a:p>
        </p:txBody>
      </p:sp>
      <p:sp>
        <p:nvSpPr>
          <p:cNvPr id="7" name="cover-focus-panel-shadow">
            <a:extLst xmlns:a="http://schemas.openxmlformats.org/drawingml/2006/main">
              <a:ext uri="{FF2B5EF4-FFF2-40B4-BE49-F238E27FC236}">
                <a16:creationId xmlns:a16="http://schemas.microsoft.com/office/drawing/2014/main" id="{AD7256D6-74FB-4018-A013-AAAB9FFE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7810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8" name="cover-focus-panel">
            <a:extLst xmlns:a="http://schemas.openxmlformats.org/drawingml/2006/main">
              <a:ext uri="{FF2B5EF4-FFF2-40B4-BE49-F238E27FC236}">
                <a16:creationId xmlns:a16="http://schemas.microsoft.com/office/drawing/2014/main" id="{A28FAC44-5916-47B1-A3DA-9E9CDBF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7810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9" name="cover-focus-heading">
            <a:extLst xmlns:a="http://schemas.openxmlformats.org/drawingml/2006/main">
              <a:ext uri="{FF2B5EF4-FFF2-40B4-BE49-F238E27FC236}">
                <a16:creationId xmlns:a16="http://schemas.microsoft.com/office/drawing/2014/main" id="{D1B9017A-9C6C-438C-9534-A493361E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What the team needs to align on</a:t>
            </a:r>
          </a:p>
        </p:txBody>
      </p:sp>
      <p:sp>
        <p:nvSpPr>
          <p:cNvPr id="10" name="cover-focus-copy">
            <a:extLst xmlns:a="http://schemas.openxmlformats.org/drawingml/2006/main">
              <a:ext uri="{FF2B5EF4-FFF2-40B4-BE49-F238E27FC236}">
                <a16:creationId xmlns:a16="http://schemas.microsoft.com/office/drawing/2014/main" id="{A7092D7B-8FFA-4604-885F-362E8599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481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Target users, adoption loop, growth channels, pricing, roadmap, and the questions we should rehearse before pitching.</a:t>
            </a:r>
          </a:p>
        </p:txBody>
      </p:sp>
      <p:sp>
        <p:nvSpPr>
          <p:cNvPr id="11" name="cover-note">
            <a:extLst xmlns:a="http://schemas.openxmlformats.org/drawingml/2006/main">
              <a:ext uri="{FF2B5EF4-FFF2-40B4-BE49-F238E27FC236}">
                <a16:creationId xmlns:a16="http://schemas.microsoft.com/office/drawing/2014/main" id="{3914C23D-EA94-4D37-BF9C-E673A93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905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8A29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A29E"/>
                </a:solidFill>
                <a:latin typeface="Aptos"/>
                <a:ea typeface="Aptos"/>
                <a:cs typeface="Aptos"/>
              </a:rPr>
              <a:t>Built from the 17-page study. Editable PowerPoint, no emoji, no sign-style visuals.</a:t>
            </a:r>
          </a:p>
        </p:txBody>
      </p:sp>
    </p:spTree>
    <p:extLst>
      <p:ext uri="{BB962C8B-B14F-4D97-AF65-F5344CB8AC3E}">
        <p14:creationId xmlns:p14="http://schemas.microsoft.com/office/powerpoint/2010/main" val="1302895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A52F1C86-478D-4A96-B4F0-61524589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690D39BC-845F-4759-9439-2781195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60B29164-77AE-4488-8CB4-ED1FE88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335E451D-62B5-416E-8977-592FFCB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BB88124C-8476-499D-8D88-2631FCC3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02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47172FC2-912D-4DF9-819B-95F025AD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72AD424D-5E14-4055-98E1-6FB512D6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Road safety learning needs a habit, not another PDF.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914776CB-57E3-49C8-96BF-C4ACAE4A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study frames adoption around a real learning gap: Khmer-first content, teacher tools, and student motivation.</a:t>
            </a:r>
          </a:p>
        </p:txBody>
      </p:sp>
      <p:sp>
        <p:nvSpPr>
          <p:cNvPr id="9" name="kpi-road-deaths-shadow">
            <a:extLst xmlns:a="http://schemas.openxmlformats.org/drawingml/2006/main">
              <a:ext uri="{FF2B5EF4-FFF2-40B4-BE49-F238E27FC236}">
                <a16:creationId xmlns:a16="http://schemas.microsoft.com/office/drawing/2014/main" id="{DC5048E4-BC85-4294-A916-AA045754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0" name="kpi-road-deaths">
            <a:extLst xmlns:a="http://schemas.openxmlformats.org/drawingml/2006/main">
              <a:ext uri="{FF2B5EF4-FFF2-40B4-BE49-F238E27FC236}">
                <a16:creationId xmlns:a16="http://schemas.microsoft.com/office/drawing/2014/main" id="{7AFF6632-8BF2-4BB0-BEE2-9158F048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1" name="kpi-road-deaths-value">
            <a:extLst xmlns:a="http://schemas.openxmlformats.org/drawingml/2006/main">
              <a:ext uri="{FF2B5EF4-FFF2-40B4-BE49-F238E27FC236}">
                <a16:creationId xmlns:a16="http://schemas.microsoft.com/office/drawing/2014/main" id="{B9BDE2BD-62ED-4A32-AA06-C12D746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8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3,113</a:t>
            </a:r>
          </a:p>
        </p:txBody>
      </p:sp>
      <p:sp>
        <p:nvSpPr>
          <p:cNvPr id="12" name="kpi-road-deaths-label">
            <a:extLst xmlns:a="http://schemas.openxmlformats.org/drawingml/2006/main">
              <a:ext uri="{FF2B5EF4-FFF2-40B4-BE49-F238E27FC236}">
                <a16:creationId xmlns:a16="http://schemas.microsoft.com/office/drawing/2014/main" id="{D0C60123-8BA1-4C46-80CE-564B03A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reported Cambodia road deaths in 2021 cited from WHO 2023</a:t>
            </a:r>
          </a:p>
        </p:txBody>
      </p:sp>
      <p:sp>
        <p:nvSpPr>
          <p:cNvPr id="13" name="kpi-youth-shadow">
            <a:extLst xmlns:a="http://schemas.openxmlformats.org/drawingml/2006/main">
              <a:ext uri="{FF2B5EF4-FFF2-40B4-BE49-F238E27FC236}">
                <a16:creationId xmlns:a16="http://schemas.microsoft.com/office/drawing/2014/main" id="{D49698BE-00FD-474D-92A0-6AD215F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4" name="kpi-youth">
            <a:extLst xmlns:a="http://schemas.openxmlformats.org/drawingml/2006/main">
              <a:ext uri="{FF2B5EF4-FFF2-40B4-BE49-F238E27FC236}">
                <a16:creationId xmlns:a16="http://schemas.microsoft.com/office/drawing/2014/main" id="{53043F1D-4574-41CC-9C5C-6922E26E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5" name="kpi-youth-value">
            <a:extLst xmlns:a="http://schemas.openxmlformats.org/drawingml/2006/main">
              <a:ext uri="{FF2B5EF4-FFF2-40B4-BE49-F238E27FC236}">
                <a16:creationId xmlns:a16="http://schemas.microsoft.com/office/drawing/2014/main" id="{D2625A1D-00E1-46F9-8C7C-39A8CCC5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8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12-18</a:t>
            </a:r>
          </a:p>
        </p:txBody>
      </p:sp>
      <p:sp>
        <p:nvSpPr>
          <p:cNvPr id="16" name="kpi-youth-label">
            <a:extLst xmlns:a="http://schemas.openxmlformats.org/drawingml/2006/main">
              <a:ext uri="{FF2B5EF4-FFF2-40B4-BE49-F238E27FC236}">
                <a16:creationId xmlns:a16="http://schemas.microsoft.com/office/drawing/2014/main" id="{DCDA144A-7A73-4420-B32E-E7BDABA6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youth audience most exposed in the study framing</a:t>
            </a:r>
          </a:p>
        </p:txBody>
      </p:sp>
      <p:sp>
        <p:nvSpPr>
          <p:cNvPr id="17" name="problem-panel-shadow">
            <a:extLst xmlns:a="http://schemas.openxmlformats.org/drawingml/2006/main">
              <a:ext uri="{FF2B5EF4-FFF2-40B4-BE49-F238E27FC236}">
                <a16:creationId xmlns:a16="http://schemas.microsoft.com/office/drawing/2014/main" id="{40F80B73-76EB-4BB0-9B77-9B53BA40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8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28E60EDE-F488-4C5B-A087-475D06C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9" name="problem-panel-title">
            <a:extLst xmlns:a="http://schemas.openxmlformats.org/drawingml/2006/main">
              <a:ext uri="{FF2B5EF4-FFF2-40B4-BE49-F238E27FC236}">
                <a16:creationId xmlns:a16="http://schemas.microsoft.com/office/drawing/2014/main" id="{40A963ED-7492-4A6A-8AEB-A6477EE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Three adoption barriers</a:t>
            </a:r>
          </a:p>
        </p:txBody>
      </p:sp>
      <p:sp>
        <p:nvSpPr>
          <p:cNvPr id="20" name="problem-bullets">
            <a:extLst xmlns:a="http://schemas.openxmlformats.org/drawingml/2006/main">
              <a:ext uri="{FF2B5EF4-FFF2-40B4-BE49-F238E27FC236}">
                <a16:creationId xmlns:a16="http://schemas.microsoft.com/office/drawing/2014/main" id="{C84ACDC6-CDB3-47A0-BB59-6B37F53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327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Khmer learning material is scattered or static.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Teachers lack digital tracking tools.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Students see road rules as boring unless practice feels active.</a:t>
            </a:r>
          </a:p>
        </p:txBody>
      </p:sp>
    </p:spTree>
    <p:extLst>
      <p:ext uri="{BB962C8B-B14F-4D97-AF65-F5344CB8AC3E}">
        <p14:creationId xmlns:p14="http://schemas.microsoft.com/office/powerpoint/2010/main" val="1629779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8D1575A4-E753-49E6-B632-8D344DE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74F32136-DEDE-42FE-BE19-2BE51A54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576931E6-A191-48C3-8AD9-20DBD6D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D4520A02-6254-475B-AB6F-D77EB884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991C1B2D-5124-4A23-8576-19B0D346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03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CE04CAD9-4315-432C-A5F4-5FB12AB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ADOPTION THESIS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9368BB6E-127C-4314-862D-08A2A26F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Teachers create the first loop. Students keep it alive.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CC05E8A6-E25B-4C30-A351-D84BE049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plan grows through class setup, competition, visible progress, and reward pressure from students back to teachers.</a:t>
            </a:r>
          </a:p>
        </p:txBody>
      </p:sp>
      <p:sp>
        <p:nvSpPr>
          <p:cNvPr id="9" name="!!loop-teacher-shadow">
            <a:extLst xmlns:a="http://schemas.openxmlformats.org/drawingml/2006/main">
              <a:ext uri="{FF2B5EF4-FFF2-40B4-BE49-F238E27FC236}">
                <a16:creationId xmlns:a16="http://schemas.microsoft.com/office/drawing/2014/main" id="{55FE4C86-2E51-4BBC-88BF-A3CF10D3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432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0" name="!!loop-teacher">
            <a:extLst xmlns:a="http://schemas.openxmlformats.org/drawingml/2006/main">
              <a:ext uri="{FF2B5EF4-FFF2-40B4-BE49-F238E27FC236}">
                <a16:creationId xmlns:a16="http://schemas.microsoft.com/office/drawing/2014/main" id="{18B92888-8781-444F-B33C-E4024EF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1" name="!!loop-teacher-text">
            <a:extLst xmlns:a="http://schemas.openxmlformats.org/drawingml/2006/main">
              <a:ext uri="{FF2B5EF4-FFF2-40B4-BE49-F238E27FC236}">
                <a16:creationId xmlns:a16="http://schemas.microsoft.com/office/drawing/2014/main" id="{56E8045A-BDDD-4FD1-BD33-382778E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337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Teacher creates class</a:t>
            </a:r>
          </a:p>
        </p:txBody>
      </p:sp>
      <p:sp>
        <p:nvSpPr>
          <p:cNvPr id="12" name="!!loop-student-shadow">
            <a:extLst xmlns:a="http://schemas.openxmlformats.org/drawingml/2006/main">
              <a:ext uri="{FF2B5EF4-FFF2-40B4-BE49-F238E27FC236}">
                <a16:creationId xmlns:a16="http://schemas.microsoft.com/office/drawing/2014/main" id="{5FEA0AB3-0F82-47DF-AF39-D746DF7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3" name="!!loop-student">
            <a:extLst xmlns:a="http://schemas.openxmlformats.org/drawingml/2006/main">
              <a:ext uri="{FF2B5EF4-FFF2-40B4-BE49-F238E27FC236}">
                <a16:creationId xmlns:a16="http://schemas.microsoft.com/office/drawing/2014/main" id="{42C379BF-ED19-4770-97F2-EDF2DBD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4" name="!!loop-student-text">
            <a:extLst xmlns:a="http://schemas.openxmlformats.org/drawingml/2006/main">
              <a:ext uri="{FF2B5EF4-FFF2-40B4-BE49-F238E27FC236}">
                <a16:creationId xmlns:a16="http://schemas.microsoft.com/office/drawing/2014/main" id="{647B6AB4-3D5F-49F0-B016-384301B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Student joins by code</a:t>
            </a:r>
          </a:p>
        </p:txBody>
      </p:sp>
      <p:sp>
        <p:nvSpPr>
          <p:cNvPr id="15" name="!!loop-practice-shadow">
            <a:extLst xmlns:a="http://schemas.openxmlformats.org/drawingml/2006/main">
              <a:ext uri="{FF2B5EF4-FFF2-40B4-BE49-F238E27FC236}">
                <a16:creationId xmlns:a16="http://schemas.microsoft.com/office/drawing/2014/main" id="{37DF0382-5B52-48C9-A9D8-F28D69A6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6" name="!!loop-practice">
            <a:extLst xmlns:a="http://schemas.openxmlformats.org/drawingml/2006/main">
              <a:ext uri="{FF2B5EF4-FFF2-40B4-BE49-F238E27FC236}">
                <a16:creationId xmlns:a16="http://schemas.microsoft.com/office/drawing/2014/main" id="{2A348C10-EB92-4AE5-B6F9-E549D935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7" name="!!loop-practice-text">
            <a:extLst xmlns:a="http://schemas.openxmlformats.org/drawingml/2006/main">
              <a:ext uri="{FF2B5EF4-FFF2-40B4-BE49-F238E27FC236}">
                <a16:creationId xmlns:a16="http://schemas.microsoft.com/office/drawing/2014/main" id="{5990F08F-0F65-4913-8BE8-8C68C90E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482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Practice plus competition</a:t>
            </a:r>
          </a:p>
        </p:txBody>
      </p:sp>
      <p:sp>
        <p:nvSpPr>
          <p:cNvPr id="18" name="!!loop-rewards-shadow">
            <a:extLst xmlns:a="http://schemas.openxmlformats.org/drawingml/2006/main">
              <a:ext uri="{FF2B5EF4-FFF2-40B4-BE49-F238E27FC236}">
                <a16:creationId xmlns:a16="http://schemas.microsoft.com/office/drawing/2014/main" id="{66C7B457-3CE2-47AB-947A-EA07911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9" name="!!loop-rewards">
            <a:extLst xmlns:a="http://schemas.openxmlformats.org/drawingml/2006/main">
              <a:ext uri="{FF2B5EF4-FFF2-40B4-BE49-F238E27FC236}">
                <a16:creationId xmlns:a16="http://schemas.microsoft.com/office/drawing/2014/main" id="{AE97B2BF-88E7-4DA5-BC74-2E9D22F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815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0" name="!!loop-rewards-text">
            <a:extLst xmlns:a="http://schemas.openxmlformats.org/drawingml/2006/main">
              <a:ext uri="{FF2B5EF4-FFF2-40B4-BE49-F238E27FC236}">
                <a16:creationId xmlns:a16="http://schemas.microsoft.com/office/drawing/2014/main" id="{50AFEECB-004A-4C71-AE55-F88B7E4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482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Rewards and reports</a:t>
            </a:r>
          </a:p>
        </p:txBody>
      </p:sp>
      <p:sp>
        <p:nvSpPr>
          <p:cNvPr id="21" name="!!loop-line-h1">
            <a:extLst xmlns:a="http://schemas.openxmlformats.org/drawingml/2006/main">
              <a:ext uri="{FF2B5EF4-FFF2-40B4-BE49-F238E27FC236}">
                <a16:creationId xmlns:a16="http://schemas.microsoft.com/office/drawing/2014/main" id="{0713987F-490E-4339-81EE-80100955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14675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0B0B"/>
            </a:solidFill>
            <a:prstDash val="solid"/>
          </a:ln>
        </p:spPr>
      </p:sp>
      <p:sp>
        <p:nvSpPr>
          <p:cNvPr id="22" name="!!loop-line-v1">
            <a:extLst xmlns:a="http://schemas.openxmlformats.org/drawingml/2006/main">
              <a:ext uri="{FF2B5EF4-FFF2-40B4-BE49-F238E27FC236}">
                <a16:creationId xmlns:a16="http://schemas.microsoft.com/office/drawing/2014/main" id="{86E651B2-E330-4534-95CD-A8E90AF4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623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0B0B"/>
            </a:solidFill>
            <a:prstDash val="solid"/>
          </a:ln>
        </p:spPr>
      </p:sp>
      <p:sp>
        <p:nvSpPr>
          <p:cNvPr id="23" name="!!loop-line-h2">
            <a:extLst xmlns:a="http://schemas.openxmlformats.org/drawingml/2006/main">
              <a:ext uri="{FF2B5EF4-FFF2-40B4-BE49-F238E27FC236}">
                <a16:creationId xmlns:a16="http://schemas.microsoft.com/office/drawing/2014/main" id="{8CE3DD9D-E6C1-421A-A9FA-12A5DD6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29175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0B0B"/>
            </a:solidFill>
            <a:prstDash val="solid"/>
          </a:ln>
        </p:spPr>
      </p:sp>
      <p:sp>
        <p:nvSpPr>
          <p:cNvPr id="24" name="!!loop-line-v2">
            <a:extLst xmlns:a="http://schemas.openxmlformats.org/drawingml/2006/main">
              <a:ext uri="{FF2B5EF4-FFF2-40B4-BE49-F238E27FC236}">
                <a16:creationId xmlns:a16="http://schemas.microsoft.com/office/drawing/2014/main" id="{9BB72C09-4BC2-4563-85E0-D998727D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623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0B0B"/>
            </a:solidFill>
            <a:prstDash val="solid"/>
          </a:ln>
        </p:spPr>
      </p:sp>
      <p:sp>
        <p:nvSpPr>
          <p:cNvPr id="25" name="!!loop-center">
            <a:extLst xmlns:a="http://schemas.openxmlformats.org/drawingml/2006/main">
              <a:ext uri="{FF2B5EF4-FFF2-40B4-BE49-F238E27FC236}">
                <a16:creationId xmlns:a16="http://schemas.microsoft.com/office/drawing/2014/main" id="{3B342AD4-4BDF-45E1-A37C-29174DD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43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6" name="loop-center-title">
            <a:extLst xmlns:a="http://schemas.openxmlformats.org/drawingml/2006/main">
              <a:ext uri="{FF2B5EF4-FFF2-40B4-BE49-F238E27FC236}">
                <a16:creationId xmlns:a16="http://schemas.microsoft.com/office/drawing/2014/main" id="{3A9A8846-37B0-4C62-A912-C06C57E1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EAB30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B308"/>
                </a:solidFill>
                <a:latin typeface="Aptos Display"/>
                <a:ea typeface="Aptos Display"/>
                <a:cs typeface="Aptos Display"/>
              </a:rPr>
              <a:t>RETURN HABIT</a:t>
            </a:r>
          </a:p>
        </p:txBody>
      </p:sp>
      <p:sp>
        <p:nvSpPr>
          <p:cNvPr id="27" name="loop-center-copy">
            <a:extLst xmlns:a="http://schemas.openxmlformats.org/drawingml/2006/main">
              <a:ext uri="{FF2B5EF4-FFF2-40B4-BE49-F238E27FC236}">
                <a16:creationId xmlns:a16="http://schemas.microsoft.com/office/drawing/2014/main" id="{E1F33AE9-2D21-43CF-81B3-C9CE483F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daily and weekly repetition</a:t>
            </a:r>
          </a:p>
        </p:txBody>
      </p:sp>
    </p:spTree>
    <p:extLst>
      <p:ext uri="{BB962C8B-B14F-4D97-AF65-F5344CB8AC3E}">
        <p14:creationId xmlns:p14="http://schemas.microsoft.com/office/powerpoint/2010/main" val="110537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476CA119-EE51-4439-9C44-014C825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FEBE1218-8FAF-44AD-BB50-A65AF1F2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F954D5A1-7681-44FF-902D-2ECE644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5863B47E-F617-4269-8F15-81C86F7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03E0B463-FB71-4732-856F-8F015006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04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FF5C5A74-2CB4-4BB7-A5DD-DBC6017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53106A5F-23AE-4388-B017-BF322BBE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Start narrow with teachers, then expand through students and families.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327EF71F-BC88-4361-BBC3-BB20DC24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study sizes several audiences, but the go-to-market wedge is teacher-led classroom adoption.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42950" y="2400300"/>
          <a:ext xmlns:a="http://schemas.openxmlformats.org/drawingml/2006/main" cx="5810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7979d601a84a76"/>
          </a:graphicData>
        </a:graphic>
      </p:graphicFrame>
      <p:sp>
        <p:nvSpPr>
          <p:cNvPr id="10" name="market-note">
            <a:extLst xmlns:a="http://schemas.openxmlformats.org/drawingml/2006/main">
              <a:ext uri="{FF2B5EF4-FFF2-40B4-BE49-F238E27FC236}">
                <a16:creationId xmlns:a16="http://schemas.microsoft.com/office/drawing/2014/main" id="{A5B91E39-4B89-4967-84F5-27CD1011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Values shown in millions where source gives counts. Teacher digital users are included inside total teachers.</a:t>
            </a:r>
          </a:p>
        </p:txBody>
      </p:sp>
      <p:sp>
        <p:nvSpPr>
          <p:cNvPr id="11" name="wedge-panel-shadow">
            <a:extLst xmlns:a="http://schemas.openxmlformats.org/drawingml/2006/main">
              <a:ext uri="{FF2B5EF4-FFF2-40B4-BE49-F238E27FC236}">
                <a16:creationId xmlns:a16="http://schemas.microsoft.com/office/drawing/2014/main" id="{DA66F0EA-17B8-4BE7-BFD1-694659D4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2" name="wedge-panel">
            <a:extLst xmlns:a="http://schemas.openxmlformats.org/drawingml/2006/main">
              <a:ext uri="{FF2B5EF4-FFF2-40B4-BE49-F238E27FC236}">
                <a16:creationId xmlns:a16="http://schemas.microsoft.com/office/drawing/2014/main" id="{845B6F03-3B1D-4ED0-9F55-A41D62F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3" name="wedge-title">
            <a:extLst xmlns:a="http://schemas.openxmlformats.org/drawingml/2006/main">
              <a:ext uri="{FF2B5EF4-FFF2-40B4-BE49-F238E27FC236}">
                <a16:creationId xmlns:a16="http://schemas.microsoft.com/office/drawing/2014/main" id="{B5631847-A5DE-46D3-879E-7AFBB512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Wedge strategy</a:t>
            </a:r>
          </a:p>
        </p:txBody>
      </p:sp>
      <p:sp>
        <p:nvSpPr>
          <p:cNvPr id="14" name="wedge-copy">
            <a:extLst xmlns:a="http://schemas.openxmlformats.org/drawingml/2006/main">
              <a:ext uri="{FF2B5EF4-FFF2-40B4-BE49-F238E27FC236}">
                <a16:creationId xmlns:a16="http://schemas.microsoft.com/office/drawing/2014/main" id="{B83650CE-A15B-4539-941C-99539E37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2743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1. Give teachers a low-risk trial.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2. Make class setup simple.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3. Let students pull usage through games and progress.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4. Convert when reporting and class management become valuable.</a:t>
            </a:r>
          </a:p>
        </p:txBody>
      </p:sp>
    </p:spTree>
    <p:extLst>
      <p:ext uri="{BB962C8B-B14F-4D97-AF65-F5344CB8AC3E}">
        <p14:creationId xmlns:p14="http://schemas.microsoft.com/office/powerpoint/2010/main" val="1292546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928C68FC-E95A-439D-A6AF-0F00F6B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B00D6026-6A5D-4AC4-8BC7-39DE5EF9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3BA24EF5-A5CA-4C71-9E82-3EABB63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AE37DC7B-8717-46E1-B84B-75709161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887D30A1-49E5-4147-90DB-9C802F6D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05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6F8A4ECA-F828-4C47-AFD9-E33D19D8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PRODUCT JOURNEY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CD0807B7-F21C-45AD-BE3F-A160546B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A new user should reach practice and feedback in minutes.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7396701F-849A-4BD0-81C8-144496C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source describes a clear flow from website entry to learning, games, AI explanation, and leaderboard.</a:t>
            </a:r>
          </a:p>
        </p:txBody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F77F750C-7105-4934-A840-08BBF83D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step-text-1">
            <a:extLst xmlns:a="http://schemas.openxmlformats.org/drawingml/2006/main">
              <a:ext uri="{FF2B5EF4-FFF2-40B4-BE49-F238E27FC236}">
                <a16:creationId xmlns:a16="http://schemas.microsoft.com/office/drawing/2014/main" id="{9E11FA8C-3A1D-4077-B723-7E0C7901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598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Open kesararamwithdigital.tech and choose a language.</a:t>
            </a:r>
          </a:p>
        </p:txBody>
      </p:sp>
      <p:sp>
        <p:nvSpPr>
          <p:cNvPr id="11" name="step-num-2">
            <a:extLst xmlns:a="http://schemas.openxmlformats.org/drawingml/2006/main">
              <a:ext uri="{FF2B5EF4-FFF2-40B4-BE49-F238E27FC236}">
                <a16:creationId xmlns:a16="http://schemas.microsoft.com/office/drawing/2014/main" id="{9CCA64F6-E1A3-4135-AD10-F009F5CA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37E8823C-35FF-438E-87C7-FDE5AD37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598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Register or join a class with a teacher code.</a:t>
            </a:r>
          </a:p>
        </p:txBody>
      </p:sp>
      <p:sp>
        <p:nvSpPr>
          <p:cNvPr id="13" name="step-num-3">
            <a:extLst xmlns:a="http://schemas.openxmlformats.org/drawingml/2006/main">
              <a:ext uri="{FF2B5EF4-FFF2-40B4-BE49-F238E27FC236}">
                <a16:creationId xmlns:a16="http://schemas.microsoft.com/office/drawing/2014/main" id="{F4608FB1-59AA-4EC0-BC31-BA128AEE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step-text-3">
            <a:extLst xmlns:a="http://schemas.openxmlformats.org/drawingml/2006/main">
              <a:ext uri="{FF2B5EF4-FFF2-40B4-BE49-F238E27FC236}">
                <a16:creationId xmlns:a16="http://schemas.microsoft.com/office/drawing/2014/main" id="{9598CD68-8C25-49EA-9EC8-0F71BDC2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62350"/>
            <a:ext cx="598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Choose one of 8 learning areas.</a:t>
            </a:r>
          </a:p>
        </p:txBody>
      </p:sp>
      <p:sp>
        <p:nvSpPr>
          <p:cNvPr id="15" name="step-num-4">
            <a:extLst xmlns:a="http://schemas.openxmlformats.org/drawingml/2006/main">
              <a:ext uri="{FF2B5EF4-FFF2-40B4-BE49-F238E27FC236}">
                <a16:creationId xmlns:a16="http://schemas.microsoft.com/office/drawing/2014/main" id="{95CA51A3-177F-4379-BE21-BD8AC170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step-text-4">
            <a:extLst xmlns:a="http://schemas.openxmlformats.org/drawingml/2006/main">
              <a:ext uri="{FF2B5EF4-FFF2-40B4-BE49-F238E27FC236}">
                <a16:creationId xmlns:a16="http://schemas.microsoft.com/office/drawing/2014/main" id="{9AAA1AC9-BB46-4DC1-B23F-1BCDAA7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598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Practice through short games and daily challenges.</a:t>
            </a:r>
          </a:p>
        </p:txBody>
      </p:sp>
      <p:sp>
        <p:nvSpPr>
          <p:cNvPr id="17" name="step-num-5">
            <a:extLst xmlns:a="http://schemas.openxmlformats.org/drawingml/2006/main">
              <a:ext uri="{FF2B5EF4-FFF2-40B4-BE49-F238E27FC236}">
                <a16:creationId xmlns:a16="http://schemas.microsoft.com/office/drawing/2014/main" id="{CF50E0ED-C36A-4ED6-AA06-73FEF89C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step-text-5">
            <a:extLst xmlns:a="http://schemas.openxmlformats.org/drawingml/2006/main">
              <a:ext uri="{FF2B5EF4-FFF2-40B4-BE49-F238E27FC236}">
                <a16:creationId xmlns:a16="http://schemas.microsoft.com/office/drawing/2014/main" id="{130EC753-56BC-431F-95D8-4DDEDE27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598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Get instant explanations from Suar AI.</a:t>
            </a:r>
          </a:p>
        </p:txBody>
      </p:sp>
      <p:sp>
        <p:nvSpPr>
          <p:cNvPr id="19" name="step-num-6">
            <a:extLst xmlns:a="http://schemas.openxmlformats.org/drawingml/2006/main">
              <a:ext uri="{FF2B5EF4-FFF2-40B4-BE49-F238E27FC236}">
                <a16:creationId xmlns:a16="http://schemas.microsoft.com/office/drawing/2014/main" id="{BD68BCA5-2625-4990-A85A-7D44A364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step-text-6">
            <a:extLst xmlns:a="http://schemas.openxmlformats.org/drawingml/2006/main">
              <a:ext uri="{FF2B5EF4-FFF2-40B4-BE49-F238E27FC236}">
                <a16:creationId xmlns:a16="http://schemas.microsoft.com/office/drawing/2014/main" id="{525CCC86-1D43-4C8E-99CD-2B70A9C6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598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Track progress through leaderboard, rewards, and class reports.</a:t>
            </a:r>
          </a:p>
        </p:txBody>
      </p:sp>
      <p:sp>
        <p:nvSpPr>
          <p:cNvPr id="21" name="journey-focus">
            <a:extLst xmlns:a="http://schemas.openxmlformats.org/drawingml/2006/main">
              <a:ext uri="{FF2B5EF4-FFF2-40B4-BE49-F238E27FC236}">
                <a16:creationId xmlns:a16="http://schemas.microsoft.com/office/drawing/2014/main" id="{007A5487-64A0-4FA0-B33D-9DF0FC9B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2" name="journey-rule-title">
            <a:extLst xmlns:a="http://schemas.openxmlformats.org/drawingml/2006/main">
              <a:ext uri="{FF2B5EF4-FFF2-40B4-BE49-F238E27FC236}">
                <a16:creationId xmlns:a16="http://schemas.microsoft.com/office/drawing/2014/main" id="{976BC29F-75F1-439A-8021-C8AF731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9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EAB30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B308"/>
                </a:solidFill>
                <a:latin typeface="Aptos Display"/>
                <a:ea typeface="Aptos Display"/>
                <a:cs typeface="Aptos Display"/>
              </a:rPr>
              <a:t>Design rule for adoption</a:t>
            </a:r>
          </a:p>
        </p:txBody>
      </p:sp>
      <p:sp>
        <p:nvSpPr>
          <p:cNvPr id="23" name="journey-rule-copy">
            <a:extLst xmlns:a="http://schemas.openxmlformats.org/drawingml/2006/main">
              <a:ext uri="{FF2B5EF4-FFF2-40B4-BE49-F238E27FC236}">
                <a16:creationId xmlns:a16="http://schemas.microsoft.com/office/drawing/2014/main" id="{D170A44D-F66D-4950-96AC-75CE1A98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screen must move the user toward the next useful action.</a:t>
            </a:r>
          </a:p>
        </p:txBody>
      </p:sp>
    </p:spTree>
    <p:extLst>
      <p:ext uri="{BB962C8B-B14F-4D97-AF65-F5344CB8AC3E}">
        <p14:creationId xmlns:p14="http://schemas.microsoft.com/office/powerpoint/2010/main" val="139145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E6DD55CE-49F2-456D-BEA9-7EC3F0E8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EB75171C-2E6E-4EE2-A2AF-ED11B6A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586E1D92-268F-44BB-B94B-BD43C43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70945C87-E4D9-483B-9FEE-13B5D77B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077174CF-C023-4025-B708-A55F85A9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06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52103630-5FE3-4705-87F7-7A57AD9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55446E5D-8BF9-44B3-93A6-2A65E46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User feedback moved the app from content-heavy to easier-starting.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63573B75-2D7F-4F53-A287-50E822D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study records specific feedback and product changes from early testers.</a:t>
            </a:r>
          </a:p>
        </p:txBody>
      </p:sp>
      <p:sp>
        <p:nvSpPr>
          <p:cNvPr id="9" name="feedback-header-a">
            <a:extLst xmlns:a="http://schemas.openxmlformats.org/drawingml/2006/main">
              <a:ext uri="{FF2B5EF4-FFF2-40B4-BE49-F238E27FC236}">
                <a16:creationId xmlns:a16="http://schemas.microsoft.com/office/drawing/2014/main" id="{6A57CAC1-2578-4CE6-B799-1CD84D03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98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heard</a:t>
            </a:r>
          </a:p>
        </p:txBody>
      </p:sp>
      <p:sp>
        <p:nvSpPr>
          <p:cNvPr id="10" name="feedback-header-b">
            <a:extLst xmlns:a="http://schemas.openxmlformats.org/drawingml/2006/main">
              <a:ext uri="{FF2B5EF4-FFF2-40B4-BE49-F238E27FC236}">
                <a16:creationId xmlns:a16="http://schemas.microsoft.com/office/drawing/2014/main" id="{5B07DFD5-E7A5-405E-991A-A3509F66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98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Product change</a:t>
            </a:r>
          </a:p>
        </p:txBody>
      </p:sp>
      <p:sp>
        <p:nvSpPr>
          <p:cNvPr id="11" name="feedback-left-0">
            <a:extLst xmlns:a="http://schemas.openxmlformats.org/drawingml/2006/main">
              <a:ext uri="{FF2B5EF4-FFF2-40B4-BE49-F238E27FC236}">
                <a16:creationId xmlns:a16="http://schemas.microsoft.com/office/drawing/2014/main" id="{58C1BBC8-E9A7-4CD6-8F20-5373B047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Text felt too small</a:t>
            </a:r>
          </a:p>
        </p:txBody>
      </p:sp>
      <p:sp>
        <p:nvSpPr>
          <p:cNvPr id="12" name="feedback-right-0">
            <a:extLst xmlns:a="http://schemas.openxmlformats.org/drawingml/2006/main">
              <a:ext uri="{FF2B5EF4-FFF2-40B4-BE49-F238E27FC236}">
                <a16:creationId xmlns:a16="http://schemas.microsoft.com/office/drawing/2014/main" id="{B13B00F2-D5D2-4365-A5A0-57B61218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Increase Khmer type size and line spacing for mobile.</a:t>
            </a:r>
          </a:p>
        </p:txBody>
      </p:sp>
      <p:sp>
        <p:nvSpPr>
          <p:cNvPr id="13" name="feedback-left-1">
            <a:extLst xmlns:a="http://schemas.openxmlformats.org/drawingml/2006/main">
              <a:ext uri="{FF2B5EF4-FFF2-40B4-BE49-F238E27FC236}">
                <a16:creationId xmlns:a16="http://schemas.microsoft.com/office/drawing/2014/main" id="{FF87A519-AF6F-4B02-9E91-7D74A51C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09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Users did not know where to begin</a:t>
            </a:r>
          </a:p>
        </p:txBody>
      </p:sp>
      <p:sp>
        <p:nvSpPr>
          <p:cNvPr id="14" name="feedback-right-1">
            <a:extLst xmlns:a="http://schemas.openxmlformats.org/drawingml/2006/main">
              <a:ext uri="{FF2B5EF4-FFF2-40B4-BE49-F238E27FC236}">
                <a16:creationId xmlns:a16="http://schemas.microsoft.com/office/drawing/2014/main" id="{F9A5F4CA-206B-477C-B41D-8511DAA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Add a guided learning journey.</a:t>
            </a:r>
          </a:p>
        </p:txBody>
      </p:sp>
      <p:sp>
        <p:nvSpPr>
          <p:cNvPr id="15" name="feedback-left-2">
            <a:extLst xmlns:a="http://schemas.openxmlformats.org/drawingml/2006/main">
              <a:ext uri="{FF2B5EF4-FFF2-40B4-BE49-F238E27FC236}">
                <a16:creationId xmlns:a16="http://schemas.microsoft.com/office/drawing/2014/main" id="{AF73AEE8-9A59-4C88-93E0-C9731873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Wrong answers needed explanation</a:t>
            </a:r>
          </a:p>
        </p:txBody>
      </p:sp>
      <p:sp>
        <p:nvSpPr>
          <p:cNvPr id="16" name="feedback-right-2">
            <a:extLst xmlns:a="http://schemas.openxmlformats.org/drawingml/2006/main">
              <a:ext uri="{FF2B5EF4-FFF2-40B4-BE49-F238E27FC236}">
                <a16:creationId xmlns:a16="http://schemas.microsoft.com/office/drawing/2014/main" id="{F58BCD77-CB3B-4D64-A4AC-3D75565C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Add instant Suar AI explanations after each question.</a:t>
            </a:r>
          </a:p>
        </p:txBody>
      </p:sp>
      <p:sp>
        <p:nvSpPr>
          <p:cNvPr id="17" name="feedback-left-3">
            <a:extLst xmlns:a="http://schemas.openxmlformats.org/drawingml/2006/main">
              <a:ext uri="{FF2B5EF4-FFF2-40B4-BE49-F238E27FC236}">
                <a16:creationId xmlns:a16="http://schemas.microsoft.com/office/drawing/2014/main" id="{C75C8EE3-99BA-4021-BB84-FD8D9882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Some students had no email</a:t>
            </a:r>
          </a:p>
        </p:txBody>
      </p:sp>
      <p:sp>
        <p:nvSpPr>
          <p:cNvPr id="18" name="feedback-right-3">
            <a:extLst xmlns:a="http://schemas.openxmlformats.org/drawingml/2006/main">
              <a:ext uri="{FF2B5EF4-FFF2-40B4-BE49-F238E27FC236}">
                <a16:creationId xmlns:a16="http://schemas.microsoft.com/office/drawing/2014/main" id="{4EE2ADEE-6D69-4CD6-BB84-F6AB75F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Allow class-code joining without email.</a:t>
            </a:r>
          </a:p>
        </p:txBody>
      </p:sp>
      <p:sp>
        <p:nvSpPr>
          <p:cNvPr id="19" name="feedback-deferred">
            <a:extLst xmlns:a="http://schemas.openxmlformats.org/drawingml/2006/main">
              <a:ext uri="{FF2B5EF4-FFF2-40B4-BE49-F238E27FC236}">
                <a16:creationId xmlns:a16="http://schemas.microsoft.com/office/drawing/2014/main" id="{51338E3B-A42A-4B54-9C3E-ADA09DA8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Deferred: full offline mode is moved to year 2 so the team can focus first on speed and low data use.</a:t>
            </a:r>
          </a:p>
        </p:txBody>
      </p:sp>
    </p:spTree>
    <p:extLst>
      <p:ext uri="{BB962C8B-B14F-4D97-AF65-F5344CB8AC3E}">
        <p14:creationId xmlns:p14="http://schemas.microsoft.com/office/powerpoint/2010/main" val="1402169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E1E30D3C-6B6D-43D3-8C0D-6DE82A8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BEEC4792-008C-451A-AC27-637F0142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B49DD8B9-3191-4986-A5AD-D65ACF9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46CA7625-A879-4B0C-B2B3-6AF06B82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1AC23C95-C904-4784-834C-8E10F48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07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6EFBD578-FF80-4D36-A074-E4E9C111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39DC92E9-02B7-4C1F-99EB-3483B9C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Win classrooms through trust, then amplify through short-form content.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5F45872E-AC21-4983-A625-039597E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plan mixes bottom-up teacher adoption with top-down institutional partnership.</a:t>
            </a:r>
          </a:p>
        </p:txBody>
      </p:sp>
      <p:sp>
        <p:nvSpPr>
          <p:cNvPr id="9" name="gtm-bottom-up-shadow">
            <a:extLst xmlns:a="http://schemas.openxmlformats.org/drawingml/2006/main">
              <a:ext uri="{FF2B5EF4-FFF2-40B4-BE49-F238E27FC236}">
                <a16:creationId xmlns:a16="http://schemas.microsoft.com/office/drawing/2014/main" id="{8983758E-24C4-4A12-8B1D-30F2254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0" name="gtm-bottom-up">
            <a:extLst xmlns:a="http://schemas.openxmlformats.org/drawingml/2006/main">
              <a:ext uri="{FF2B5EF4-FFF2-40B4-BE49-F238E27FC236}">
                <a16:creationId xmlns:a16="http://schemas.microsoft.com/office/drawing/2014/main" id="{4A3F408F-435E-4BCC-8B73-7E987B34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1" name="gtm-bottom-title">
            <a:extLst xmlns:a="http://schemas.openxmlformats.org/drawingml/2006/main">
              <a:ext uri="{FF2B5EF4-FFF2-40B4-BE49-F238E27FC236}">
                <a16:creationId xmlns:a16="http://schemas.microsoft.com/office/drawing/2014/main" id="{1BF76262-9840-4841-A8DD-BEF3FC80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Bottom-up motion</a:t>
            </a:r>
          </a:p>
        </p:txBody>
      </p:sp>
      <p:sp>
        <p:nvSpPr>
          <p:cNvPr id="12" name="gtm-bottom-copy">
            <a:extLst xmlns:a="http://schemas.openxmlformats.org/drawingml/2006/main">
              <a:ext uri="{FF2B5EF4-FFF2-40B4-BE49-F238E27FC236}">
                <a16:creationId xmlns:a16="http://schemas.microsoft.com/office/drawing/2014/main" id="{84C63D87-2471-4EE9-AF3A-7A1D711D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3886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- 7-day teacher trial.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Referral: one teacher invites two more and earns one free month.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Monthly roadshow and school safety week.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Target campaign: 300 students and 10 teachers.</a:t>
            </a:r>
          </a:p>
        </p:txBody>
      </p:sp>
      <p:sp>
        <p:nvSpPr>
          <p:cNvPr id="13" name="gtm-top-down-shadow">
            <a:extLst xmlns:a="http://schemas.openxmlformats.org/drawingml/2006/main">
              <a:ext uri="{FF2B5EF4-FFF2-40B4-BE49-F238E27FC236}">
                <a16:creationId xmlns:a16="http://schemas.microsoft.com/office/drawing/2014/main" id="{F60A413A-CA4D-4924-B1B3-F4B635AD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4" name="gtm-top-down">
            <a:extLst xmlns:a="http://schemas.openxmlformats.org/drawingml/2006/main">
              <a:ext uri="{FF2B5EF4-FFF2-40B4-BE49-F238E27FC236}">
                <a16:creationId xmlns:a16="http://schemas.microsoft.com/office/drawing/2014/main" id="{4471E834-3DC2-475A-868D-E0B8F14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5" name="gtm-top-title">
            <a:extLst xmlns:a="http://schemas.openxmlformats.org/drawingml/2006/main">
              <a:ext uri="{FF2B5EF4-FFF2-40B4-BE49-F238E27FC236}">
                <a16:creationId xmlns:a16="http://schemas.microsoft.com/office/drawing/2014/main" id="{F74CD520-80CC-481D-BB63-BDA58C06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Top-down motion</a:t>
            </a:r>
          </a:p>
        </p:txBody>
      </p:sp>
      <p:sp>
        <p:nvSpPr>
          <p:cNvPr id="16" name="gtm-top-copy">
            <a:extLst xmlns:a="http://schemas.openxmlformats.org/drawingml/2006/main">
              <a:ext uri="{FF2B5EF4-FFF2-40B4-BE49-F238E27FC236}">
                <a16:creationId xmlns:a16="http://schemas.microsoft.com/office/drawing/2014/main" id="{9EF86627-1304-458E-9B21-D04DB42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886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Short quiz videos on TikTok and Facebook Reels.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Khmer SEO around road safety and license prep.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Local media via Technovation impact story.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MoU path with education and transport stakeholders.</a:t>
            </a:r>
          </a:p>
        </p:txBody>
      </p:sp>
    </p:spTree>
    <p:extLst>
      <p:ext uri="{BB962C8B-B14F-4D97-AF65-F5344CB8AC3E}">
        <p14:creationId xmlns:p14="http://schemas.microsoft.com/office/powerpoint/2010/main" val="970991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517C3CFF-166F-4990-A5C0-D46A87E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321A5044-7A03-42FE-B8BA-7FCAA1D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E6D5A715-C779-4761-B25C-47B91B3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E72EE104-D335-453E-8304-2DDA4419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0FF08F41-4D09-4633-9017-08AC1A8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08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6D0027BD-C94C-4CA2-A342-B8A439D4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AD22CC68-57CA-4420-AE72-2A61257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The return habit is built from progress, competition, and reporting.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50B811DA-B6EA-41B3-99BF-4AC1DA4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A student should come back for points. A teacher should come back for visibility.</a:t>
            </a:r>
          </a:p>
        </p:txBody>
      </p:sp>
      <p:sp>
        <p:nvSpPr>
          <p:cNvPr id="9" name="!!retention-0-shadow">
            <a:extLst xmlns:a="http://schemas.openxmlformats.org/drawingml/2006/main">
              <a:ext uri="{FF2B5EF4-FFF2-40B4-BE49-F238E27FC236}">
                <a16:creationId xmlns:a16="http://schemas.microsoft.com/office/drawing/2014/main" id="{A7ADA3FE-675E-4506-84D8-5386A04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0" name="!!retention-0">
            <a:extLst xmlns:a="http://schemas.openxmlformats.org/drawingml/2006/main">
              <a:ext uri="{FF2B5EF4-FFF2-40B4-BE49-F238E27FC236}">
                <a16:creationId xmlns:a16="http://schemas.microsoft.com/office/drawing/2014/main" id="{9BDE905E-5A08-46C7-9CE1-CD583E4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1" name="retention-title-0">
            <a:extLst xmlns:a="http://schemas.openxmlformats.org/drawingml/2006/main">
              <a:ext uri="{FF2B5EF4-FFF2-40B4-BE49-F238E27FC236}">
                <a16:creationId xmlns:a16="http://schemas.microsoft.com/office/drawing/2014/main" id="{5DDFE881-4C7A-4335-8AC1-B8E30BA3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Streaks</a:t>
            </a:r>
          </a:p>
        </p:txBody>
      </p:sp>
      <p:sp>
        <p:nvSpPr>
          <p:cNvPr id="12" name="retention-copy-0">
            <a:extLst xmlns:a="http://schemas.openxmlformats.org/drawingml/2006/main">
              <a:ext uri="{FF2B5EF4-FFF2-40B4-BE49-F238E27FC236}">
                <a16:creationId xmlns:a16="http://schemas.microsoft.com/office/drawing/2014/main" id="{28928E81-220F-48D8-843F-F83A6A76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Daily repetition gives students a visible reason to return.</a:t>
            </a:r>
          </a:p>
        </p:txBody>
      </p:sp>
      <p:sp>
        <p:nvSpPr>
          <p:cNvPr id="13" name="!!retention-1-shadow">
            <a:extLst xmlns:a="http://schemas.openxmlformats.org/drawingml/2006/main">
              <a:ext uri="{FF2B5EF4-FFF2-40B4-BE49-F238E27FC236}">
                <a16:creationId xmlns:a16="http://schemas.microsoft.com/office/drawing/2014/main" id="{D355F1F1-270A-4367-8A1D-8520993C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4" name="!!retention-1">
            <a:extLst xmlns:a="http://schemas.openxmlformats.org/drawingml/2006/main">
              <a:ext uri="{FF2B5EF4-FFF2-40B4-BE49-F238E27FC236}">
                <a16:creationId xmlns:a16="http://schemas.microsoft.com/office/drawing/2014/main" id="{B5C82854-BCDE-4471-8B02-40B8ACF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5" name="retention-title-1">
            <a:extLst xmlns:a="http://schemas.openxmlformats.org/drawingml/2006/main">
              <a:ext uri="{FF2B5EF4-FFF2-40B4-BE49-F238E27FC236}">
                <a16:creationId xmlns:a16="http://schemas.microsoft.com/office/drawing/2014/main" id="{12957AF6-DEAC-4DD4-908E-F3695DE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52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Leaderboard</a:t>
            </a:r>
          </a:p>
        </p:txBody>
      </p:sp>
      <p:sp>
        <p:nvSpPr>
          <p:cNvPr id="16" name="retention-copy-1">
            <a:extLst xmlns:a="http://schemas.openxmlformats.org/drawingml/2006/main">
              <a:ext uri="{FF2B5EF4-FFF2-40B4-BE49-F238E27FC236}">
                <a16:creationId xmlns:a16="http://schemas.microsoft.com/office/drawing/2014/main" id="{F00D7A57-1F3A-4AE3-A6AD-999B009A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Social comparison turns practice into a shared activity.</a:t>
            </a:r>
          </a:p>
        </p:txBody>
      </p:sp>
      <p:sp>
        <p:nvSpPr>
          <p:cNvPr id="17" name="!!retention-2-shadow">
            <a:extLst xmlns:a="http://schemas.openxmlformats.org/drawingml/2006/main">
              <a:ext uri="{FF2B5EF4-FFF2-40B4-BE49-F238E27FC236}">
                <a16:creationId xmlns:a16="http://schemas.microsoft.com/office/drawing/2014/main" id="{EC6EEB9F-675E-46A4-8CC4-D895227D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8" name="!!retention-2">
            <a:extLst xmlns:a="http://schemas.openxmlformats.org/drawingml/2006/main">
              <a:ext uri="{FF2B5EF4-FFF2-40B4-BE49-F238E27FC236}">
                <a16:creationId xmlns:a16="http://schemas.microsoft.com/office/drawing/2014/main" id="{BED5CBB5-1EF7-429B-973B-F1FBBBFE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9" name="retention-title-2">
            <a:extLst xmlns:a="http://schemas.openxmlformats.org/drawingml/2006/main">
              <a:ext uri="{FF2B5EF4-FFF2-40B4-BE49-F238E27FC236}">
                <a16:creationId xmlns:a16="http://schemas.microsoft.com/office/drawing/2014/main" id="{C5614E4C-958F-49B9-BC57-C5B4F3F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Rewards</a:t>
            </a:r>
          </a:p>
        </p:txBody>
      </p:sp>
      <p:sp>
        <p:nvSpPr>
          <p:cNvPr id="20" name="retention-copy-2">
            <a:extLst xmlns:a="http://schemas.openxmlformats.org/drawingml/2006/main">
              <a:ext uri="{FF2B5EF4-FFF2-40B4-BE49-F238E27FC236}">
                <a16:creationId xmlns:a16="http://schemas.microsoft.com/office/drawing/2014/main" id="{0666D65C-E44D-457D-910F-1E42426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Points can become school supplies or public recognition.</a:t>
            </a:r>
          </a:p>
        </p:txBody>
      </p:sp>
      <p:sp>
        <p:nvSpPr>
          <p:cNvPr id="21" name="!!retention-3-shadow">
            <a:extLst xmlns:a="http://schemas.openxmlformats.org/drawingml/2006/main">
              <a:ext uri="{FF2B5EF4-FFF2-40B4-BE49-F238E27FC236}">
                <a16:creationId xmlns:a16="http://schemas.microsoft.com/office/drawing/2014/main" id="{978A6E74-4EC6-4B1D-9F65-76F73CE8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22" name="!!retention-3">
            <a:extLst xmlns:a="http://schemas.openxmlformats.org/drawingml/2006/main">
              <a:ext uri="{FF2B5EF4-FFF2-40B4-BE49-F238E27FC236}">
                <a16:creationId xmlns:a16="http://schemas.microsoft.com/office/drawing/2014/main" id="{9E3A40CF-91E7-4AC1-AD10-F04BFCAC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3" name="retention-title-3">
            <a:extLst xmlns:a="http://schemas.openxmlformats.org/drawingml/2006/main">
              <a:ext uri="{FF2B5EF4-FFF2-40B4-BE49-F238E27FC236}">
                <a16:creationId xmlns:a16="http://schemas.microsoft.com/office/drawing/2014/main" id="{5073D160-C5ED-481E-A6ED-55D511F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Reports</a:t>
            </a:r>
          </a:p>
        </p:txBody>
      </p:sp>
      <p:sp>
        <p:nvSpPr>
          <p:cNvPr id="24" name="retention-copy-3">
            <a:extLst xmlns:a="http://schemas.openxmlformats.org/drawingml/2006/main">
              <a:ext uri="{FF2B5EF4-FFF2-40B4-BE49-F238E27FC236}">
                <a16:creationId xmlns:a16="http://schemas.microsoft.com/office/drawing/2014/main" id="{7B87A391-0297-4230-BF24-B18F3B8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Teachers need progress data to justify continued use.</a:t>
            </a:r>
          </a:p>
        </p:txBody>
      </p:sp>
      <p:sp>
        <p:nvSpPr>
          <p:cNvPr id="25" name="retention-bottom-line">
            <a:extLst xmlns:a="http://schemas.openxmlformats.org/drawingml/2006/main">
              <a:ext uri="{FF2B5EF4-FFF2-40B4-BE49-F238E27FC236}">
                <a16:creationId xmlns:a16="http://schemas.microsoft.com/office/drawing/2014/main" id="{775263D6-ABDE-4E65-92EB-9A72401D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29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Team lens: retention is not one feature. It is the loop between student motivation and teacher evidence.</a:t>
            </a:r>
          </a:p>
        </p:txBody>
      </p:sp>
    </p:spTree>
    <p:extLst>
      <p:ext uri="{BB962C8B-B14F-4D97-AF65-F5344CB8AC3E}">
        <p14:creationId xmlns:p14="http://schemas.microsoft.com/office/powerpoint/2010/main" val="777523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EA463A52-254C-4542-B4FE-1354112F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3F53E086-CF31-4B31-8DEF-8F26C01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9C9771ED-5F91-4023-9580-6BA5C49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2F4C9DD2-6672-4C1E-8F49-A6935B0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478302AE-A890-4320-A6E3-870790FD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09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721A61BB-EFA0-4F56-B883-1BAC31F2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PRICING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7C2904E0-F1BA-486E-922A-E3D9D5A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Keep learning free, then upgrade when management value appears.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E09AA9AD-B8FC-4707-821D-3F726CC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study proposes a freemium ladder with teacher and school plans as the likely conversion path.</a:t>
            </a:r>
          </a:p>
        </p:txBody>
      </p:sp>
      <p:sp>
        <p:nvSpPr>
          <p:cNvPr id="9" name="pricing-tier-0-shadow">
            <a:extLst xmlns:a="http://schemas.openxmlformats.org/drawingml/2006/main">
              <a:ext uri="{FF2B5EF4-FFF2-40B4-BE49-F238E27FC236}">
                <a16:creationId xmlns:a16="http://schemas.microsoft.com/office/drawing/2014/main" id="{2C70FFAC-3D68-499F-A204-151E54C5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0" name="pricing-tier-0">
            <a:extLst xmlns:a="http://schemas.openxmlformats.org/drawingml/2006/main">
              <a:ext uri="{FF2B5EF4-FFF2-40B4-BE49-F238E27FC236}">
                <a16:creationId xmlns:a16="http://schemas.microsoft.com/office/drawing/2014/main" id="{C2237B23-3A32-4518-91F8-EF663DE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1" name="pricing-price-0">
            <a:extLst xmlns:a="http://schemas.openxmlformats.org/drawingml/2006/main">
              <a:ext uri="{FF2B5EF4-FFF2-40B4-BE49-F238E27FC236}">
                <a16:creationId xmlns:a16="http://schemas.microsoft.com/office/drawing/2014/main" id="{959224C1-EAF9-440C-B713-4A2C33D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$0</a:t>
            </a:r>
          </a:p>
        </p:txBody>
      </p:sp>
      <p:sp>
        <p:nvSpPr>
          <p:cNvPr id="12" name="pricing-name-0">
            <a:extLst xmlns:a="http://schemas.openxmlformats.org/drawingml/2006/main">
              <a:ext uri="{FF2B5EF4-FFF2-40B4-BE49-F238E27FC236}">
                <a16:creationId xmlns:a16="http://schemas.microsoft.com/office/drawing/2014/main" id="{98B38BD5-A80B-46D5-988C-D072F731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Free</a:t>
            </a:r>
          </a:p>
        </p:txBody>
      </p:sp>
      <p:sp>
        <p:nvSpPr>
          <p:cNvPr id="13" name="pricing-desc-0">
            <a:extLst xmlns:a="http://schemas.openxmlformats.org/drawingml/2006/main">
              <a:ext uri="{FF2B5EF4-FFF2-40B4-BE49-F238E27FC236}">
                <a16:creationId xmlns:a16="http://schemas.microsoft.com/office/drawing/2014/main" id="{07A9A48B-E250-4355-922C-F9A8A36E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student practice and class-code access</a:t>
            </a:r>
          </a:p>
        </p:txBody>
      </p:sp>
      <p:sp>
        <p:nvSpPr>
          <p:cNvPr id="14" name="pricing-tier-1-shadow">
            <a:extLst xmlns:a="http://schemas.openxmlformats.org/drawingml/2006/main">
              <a:ext uri="{FF2B5EF4-FFF2-40B4-BE49-F238E27FC236}">
                <a16:creationId xmlns:a16="http://schemas.microsoft.com/office/drawing/2014/main" id="{E0ED8200-046A-415C-852F-7D76AFDC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5" name="pricing-tier-1">
            <a:extLst xmlns:a="http://schemas.openxmlformats.org/drawingml/2006/main">
              <a:ext uri="{FF2B5EF4-FFF2-40B4-BE49-F238E27FC236}">
                <a16:creationId xmlns:a16="http://schemas.microsoft.com/office/drawing/2014/main" id="{433717A6-2DE0-48A0-868A-CF891C6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6" name="pricing-price-1">
            <a:extLst xmlns:a="http://schemas.openxmlformats.org/drawingml/2006/main">
              <a:ext uri="{FF2B5EF4-FFF2-40B4-BE49-F238E27FC236}">
                <a16:creationId xmlns:a16="http://schemas.microsoft.com/office/drawing/2014/main" id="{49A0F66B-D862-4BC0-BD87-00FAEE5C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$5/mo</a:t>
            </a:r>
          </a:p>
        </p:txBody>
      </p:sp>
      <p:sp>
        <p:nvSpPr>
          <p:cNvPr id="17" name="pricing-name-1">
            <a:extLst xmlns:a="http://schemas.openxmlformats.org/drawingml/2006/main">
              <a:ext uri="{FF2B5EF4-FFF2-40B4-BE49-F238E27FC236}">
                <a16:creationId xmlns:a16="http://schemas.microsoft.com/office/drawing/2014/main" id="{DC605831-2DE4-4162-83E5-4467325B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Family</a:t>
            </a:r>
          </a:p>
        </p:txBody>
      </p:sp>
      <p:sp>
        <p:nvSpPr>
          <p:cNvPr id="18" name="pricing-desc-1">
            <a:extLst xmlns:a="http://schemas.openxmlformats.org/drawingml/2006/main">
              <a:ext uri="{FF2B5EF4-FFF2-40B4-BE49-F238E27FC236}">
                <a16:creationId xmlns:a16="http://schemas.microsoft.com/office/drawing/2014/main" id="{CB7AE17F-0FFA-403E-B016-42E03E9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parent tracking for up to 9 children</a:t>
            </a:r>
          </a:p>
        </p:txBody>
      </p:sp>
      <p:sp>
        <p:nvSpPr>
          <p:cNvPr id="19" name="pricing-tier-2-shadow">
            <a:extLst xmlns:a="http://schemas.openxmlformats.org/drawingml/2006/main">
              <a:ext uri="{FF2B5EF4-FFF2-40B4-BE49-F238E27FC236}">
                <a16:creationId xmlns:a16="http://schemas.microsoft.com/office/drawing/2014/main" id="{0AF415AD-8536-462E-B122-8D60BB6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20" name="pricing-tier-2">
            <a:extLst xmlns:a="http://schemas.openxmlformats.org/drawingml/2006/main">
              <a:ext uri="{FF2B5EF4-FFF2-40B4-BE49-F238E27FC236}">
                <a16:creationId xmlns:a16="http://schemas.microsoft.com/office/drawing/2014/main" id="{E5B53E66-AF98-4DAB-9338-C468E8D6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1" name="pricing-price-2">
            <a:extLst xmlns:a="http://schemas.openxmlformats.org/drawingml/2006/main">
              <a:ext uri="{FF2B5EF4-FFF2-40B4-BE49-F238E27FC236}">
                <a16:creationId xmlns:a16="http://schemas.microsoft.com/office/drawing/2014/main" id="{E43CB228-DF12-4940-A941-23F751DB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$10/mo</a:t>
            </a:r>
          </a:p>
        </p:txBody>
      </p:sp>
      <p:sp>
        <p:nvSpPr>
          <p:cNvPr id="22" name="pricing-name-2">
            <a:extLst xmlns:a="http://schemas.openxmlformats.org/drawingml/2006/main">
              <a:ext uri="{FF2B5EF4-FFF2-40B4-BE49-F238E27FC236}">
                <a16:creationId xmlns:a16="http://schemas.microsoft.com/office/drawing/2014/main" id="{2DE1ACF8-AE2A-4447-9EF7-77B7E29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Teacher Pro</a:t>
            </a:r>
          </a:p>
        </p:txBody>
      </p:sp>
      <p:sp>
        <p:nvSpPr>
          <p:cNvPr id="23" name="pricing-desc-2">
            <a:extLst xmlns:a="http://schemas.openxmlformats.org/drawingml/2006/main">
              <a:ext uri="{FF2B5EF4-FFF2-40B4-BE49-F238E27FC236}">
                <a16:creationId xmlns:a16="http://schemas.microsoft.com/office/drawing/2014/main" id="{E5E5E175-931E-4150-9590-0772909C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7190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classes, competitions, student reports</a:t>
            </a:r>
          </a:p>
        </p:txBody>
      </p:sp>
      <p:sp>
        <p:nvSpPr>
          <p:cNvPr id="24" name="pricing-tier-3-shadow">
            <a:extLst xmlns:a="http://schemas.openxmlformats.org/drawingml/2006/main">
              <a:ext uri="{FF2B5EF4-FFF2-40B4-BE49-F238E27FC236}">
                <a16:creationId xmlns:a16="http://schemas.microsoft.com/office/drawing/2014/main" id="{23EF4EE4-CD20-4946-B96F-9999C72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25" name="pricing-tier-3">
            <a:extLst xmlns:a="http://schemas.openxmlformats.org/drawingml/2006/main">
              <a:ext uri="{FF2B5EF4-FFF2-40B4-BE49-F238E27FC236}">
                <a16:creationId xmlns:a16="http://schemas.microsoft.com/office/drawing/2014/main" id="{CFF11D07-5D95-4E51-A502-BADC87C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6" name="pricing-price-3">
            <a:extLst xmlns:a="http://schemas.openxmlformats.org/drawingml/2006/main">
              <a:ext uri="{FF2B5EF4-FFF2-40B4-BE49-F238E27FC236}">
                <a16:creationId xmlns:a16="http://schemas.microsoft.com/office/drawing/2014/main" id="{18B002FA-BDF7-41D7-B24C-F48794C7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$20/mo</a:t>
            </a:r>
          </a:p>
        </p:txBody>
      </p:sp>
      <p:sp>
        <p:nvSpPr>
          <p:cNvPr id="27" name="pricing-name-3">
            <a:extLst xmlns:a="http://schemas.openxmlformats.org/drawingml/2006/main">
              <a:ext uri="{FF2B5EF4-FFF2-40B4-BE49-F238E27FC236}">
                <a16:creationId xmlns:a16="http://schemas.microsoft.com/office/drawing/2014/main" id="{E2EC1B0B-2558-4F1A-9159-B1C41D79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School</a:t>
            </a:r>
          </a:p>
        </p:txBody>
      </p:sp>
      <p:sp>
        <p:nvSpPr>
          <p:cNvPr id="28" name="pricing-desc-3">
            <a:extLst xmlns:a="http://schemas.openxmlformats.org/drawingml/2006/main">
              <a:ext uri="{FF2B5EF4-FFF2-40B4-BE49-F238E27FC236}">
                <a16:creationId xmlns:a16="http://schemas.microsoft.com/office/drawing/2014/main" id="{BAD565FC-6D0D-4753-9E6A-BD26C5A7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7190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10 teachers and 200 students per term</a:t>
            </a:r>
          </a:p>
        </p:txBody>
      </p:sp>
      <p:sp>
        <p:nvSpPr>
          <p:cNvPr id="29" name="pricing-tier-4-shadow">
            <a:extLst xmlns:a="http://schemas.openxmlformats.org/drawingml/2006/main">
              <a:ext uri="{FF2B5EF4-FFF2-40B4-BE49-F238E27FC236}">
                <a16:creationId xmlns:a16="http://schemas.microsoft.com/office/drawing/2014/main" id="{194232AD-3078-467B-A512-9E768C79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30" name="pricing-tier-4">
            <a:extLst xmlns:a="http://schemas.openxmlformats.org/drawingml/2006/main">
              <a:ext uri="{FF2B5EF4-FFF2-40B4-BE49-F238E27FC236}">
                <a16:creationId xmlns:a16="http://schemas.microsoft.com/office/drawing/2014/main" id="{0403C92E-26BD-4174-9DFA-7759A134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924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31" name="pricing-price-4">
            <a:extLst xmlns:a="http://schemas.openxmlformats.org/drawingml/2006/main">
              <a:ext uri="{FF2B5EF4-FFF2-40B4-BE49-F238E27FC236}">
                <a16:creationId xmlns:a16="http://schemas.microsoft.com/office/drawing/2014/main" id="{428D01AB-AB7E-4B6C-BCDF-8642FB8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$35/mo</a:t>
            </a:r>
          </a:p>
        </p:txBody>
      </p:sp>
      <p:sp>
        <p:nvSpPr>
          <p:cNvPr id="32" name="pricing-name-4">
            <a:extLst xmlns:a="http://schemas.openxmlformats.org/drawingml/2006/main">
              <a:ext uri="{FF2B5EF4-FFF2-40B4-BE49-F238E27FC236}">
                <a16:creationId xmlns:a16="http://schemas.microsoft.com/office/drawing/2014/main" id="{F515E9EE-A6CE-44EA-8A40-DBB9478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Driving School</a:t>
            </a:r>
          </a:p>
        </p:txBody>
      </p:sp>
      <p:sp>
        <p:nvSpPr>
          <p:cNvPr id="33" name="pricing-desc-4">
            <a:extLst xmlns:a="http://schemas.openxmlformats.org/drawingml/2006/main">
              <a:ext uri="{FF2B5EF4-FFF2-40B4-BE49-F238E27FC236}">
                <a16:creationId xmlns:a16="http://schemas.microsoft.com/office/drawing/2014/main" id="{5391A04A-268E-49BB-92BB-46E5C51E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71900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full question bank, AI mock exam, certificates</a:t>
            </a:r>
          </a:p>
        </p:txBody>
      </p:sp>
      <p:sp>
        <p:nvSpPr>
          <p:cNvPr id="34" name="pricing-trigger">
            <a:extLst xmlns:a="http://schemas.openxmlformats.org/drawingml/2006/main">
              <a:ext uri="{FF2B5EF4-FFF2-40B4-BE49-F238E27FC236}">
                <a16:creationId xmlns:a16="http://schemas.microsoft.com/office/drawing/2014/main" id="{5459929D-3F52-4BB7-955E-DFFCEBFA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9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Upgrade trigger: users pay when they need classes, detailed reports, parent tracking, mock exams, or institutional management.</a:t>
            </a:r>
          </a:p>
        </p:txBody>
      </p:sp>
    </p:spTree>
    <p:extLst>
      <p:ext uri="{BB962C8B-B14F-4D97-AF65-F5344CB8AC3E}">
        <p14:creationId xmlns:p14="http://schemas.microsoft.com/office/powerpoint/2010/main" val="1737272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6150BACC-F94F-46E0-91DF-BB55FBA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A459D8E4-42A2-44C0-96C9-0A2B4B85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06893EA0-1152-44A3-AC57-C9643802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BA849386-EE64-4CBD-BB57-068C241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8D8008CF-F817-4AFC-A003-6F79EDD1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10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99EFE905-F5D9-4D3F-935D-6369F55E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65CAC791-23C4-491B-8C5F-AC4D1EC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The plan depends on reaching 100 paid subscribers in year one.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F877AC54-71B0-4B91-9A6C-30D9B2D4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study projects 100, 250, and 500 paid subscribers across 2026 to 2028.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62000" y="2381250"/>
          <a:ext xmlns:a="http://schemas.openxmlformats.org/drawingml/2006/main" cx="6286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040c08851c4aea"/>
          </a:graphicData>
        </a:graphic>
      </p:graphicFrame>
      <p:sp>
        <p:nvSpPr>
          <p:cNvPr id="10" name="forecast-assumption-shadow">
            <a:extLst xmlns:a="http://schemas.openxmlformats.org/drawingml/2006/main">
              <a:ext uri="{FF2B5EF4-FFF2-40B4-BE49-F238E27FC236}">
                <a16:creationId xmlns:a16="http://schemas.microsoft.com/office/drawing/2014/main" id="{8B1B6214-A012-4D01-AB7A-F5FE9FD5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914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1" name="forecast-assumption">
            <a:extLst xmlns:a="http://schemas.openxmlformats.org/drawingml/2006/main">
              <a:ext uri="{FF2B5EF4-FFF2-40B4-BE49-F238E27FC236}">
                <a16:creationId xmlns:a16="http://schemas.microsoft.com/office/drawing/2014/main" id="{9AC2C404-D772-491C-8F15-9FD81C31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95550"/>
            <a:ext cx="2914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2" name="forecast-assumption-title">
            <a:extLst xmlns:a="http://schemas.openxmlformats.org/drawingml/2006/main">
              <a:ext uri="{FF2B5EF4-FFF2-40B4-BE49-F238E27FC236}">
                <a16:creationId xmlns:a16="http://schemas.microsoft.com/office/drawing/2014/main" id="{683D71DA-33F7-4D7A-A620-2397053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Key assumptions</a:t>
            </a:r>
          </a:p>
        </p:txBody>
      </p:sp>
      <p:sp>
        <p:nvSpPr>
          <p:cNvPr id="13" name="forecast-assumption-copy">
            <a:extLst xmlns:a="http://schemas.openxmlformats.org/drawingml/2006/main">
              <a:ext uri="{FF2B5EF4-FFF2-40B4-BE49-F238E27FC236}">
                <a16:creationId xmlns:a16="http://schemas.microsoft.com/office/drawing/2014/main" id="{512C8616-D4C6-4D91-A4F6-891A751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3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Paid subscribers: 100 to 250 to 500.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Operating costs: $80 to $300 to $900.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- Break-even expected from the first month if year-one conversion lands.</a:t>
            </a:r>
          </a:p>
        </p:txBody>
      </p:sp>
    </p:spTree>
    <p:extLst>
      <p:ext uri="{BB962C8B-B14F-4D97-AF65-F5344CB8AC3E}">
        <p14:creationId xmlns:p14="http://schemas.microsoft.com/office/powerpoint/2010/main" val="1056494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45F82DFE-BC70-4E62-8084-EB2B99CC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91C6CB48-1710-4B41-AD90-97BAE5B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E0307639-8EF3-4010-B5B1-F3C949B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1752B351-72EF-42E6-9B67-56F1706E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5475B771-1142-46DD-824F-57BACB9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11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9A382814-A302-4A69-A41A-789CC2ED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E1FBC24A-ED60-470C-BE75-62AF20CC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Prove the loop in 2026, formalize in 2027, scale in 2028.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D21BA69C-1312-4ED1-9D80-6A7225E8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three-year plan moves from beta learning to school rollout to institutional expansion.</a:t>
            </a:r>
          </a:p>
        </p:txBody>
      </p:sp>
      <p:sp>
        <p:nvSpPr>
          <p:cNvPr id="9" name="roadmap-2026-shadow">
            <a:extLst xmlns:a="http://schemas.openxmlformats.org/drawingml/2006/main">
              <a:ext uri="{FF2B5EF4-FFF2-40B4-BE49-F238E27FC236}">
                <a16:creationId xmlns:a16="http://schemas.microsoft.com/office/drawing/2014/main" id="{BE6BFF7B-DC55-4894-872D-BEAEDB1F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0" name="roadmap-2026">
            <a:extLst xmlns:a="http://schemas.openxmlformats.org/drawingml/2006/main">
              <a:ext uri="{FF2B5EF4-FFF2-40B4-BE49-F238E27FC236}">
                <a16:creationId xmlns:a16="http://schemas.microsoft.com/office/drawing/2014/main" id="{204C7626-340B-413B-AC02-8083173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1" name="roadmap-year-0">
            <a:extLst xmlns:a="http://schemas.openxmlformats.org/drawingml/2006/main">
              <a:ext uri="{FF2B5EF4-FFF2-40B4-BE49-F238E27FC236}">
                <a16:creationId xmlns:a16="http://schemas.microsoft.com/office/drawing/2014/main" id="{D89F857F-533E-450B-A7E5-9EFC9FA8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2026</a:t>
            </a:r>
          </a:p>
        </p:txBody>
      </p:sp>
      <p:sp>
        <p:nvSpPr>
          <p:cNvPr id="12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9DFA4E2B-001C-43AE-86C0-174EA7D4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Beta with teachers</a:t>
            </a:r>
          </a:p>
        </p:txBody>
      </p:sp>
      <p:sp>
        <p:nvSpPr>
          <p:cNvPr id="13" name="roadmap-copy-0">
            <a:extLst xmlns:a="http://schemas.openxmlformats.org/drawingml/2006/main">
              <a:ext uri="{FF2B5EF4-FFF2-40B4-BE49-F238E27FC236}">
                <a16:creationId xmlns:a16="http://schemas.microsoft.com/office/drawing/2014/main" id="{B36FB6F1-4DC3-422F-B924-DE7BE26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Suar AI v1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School pilots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100 paid subscribers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Build feedback loop</a:t>
            </a:r>
          </a:p>
        </p:txBody>
      </p:sp>
      <p:sp>
        <p:nvSpPr>
          <p:cNvPr id="14" name="roadmap-2027-shadow">
            <a:extLst xmlns:a="http://schemas.openxmlformats.org/drawingml/2006/main">
              <a:ext uri="{FF2B5EF4-FFF2-40B4-BE49-F238E27FC236}">
                <a16:creationId xmlns:a16="http://schemas.microsoft.com/office/drawing/2014/main" id="{0628BB24-2226-46B0-A6B8-1CB6D63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5" name="roadmap-2027">
            <a:extLst xmlns:a="http://schemas.openxmlformats.org/drawingml/2006/main">
              <a:ext uri="{FF2B5EF4-FFF2-40B4-BE49-F238E27FC236}">
                <a16:creationId xmlns:a16="http://schemas.microsoft.com/office/drawing/2014/main" id="{47F9104F-DA5C-4D6C-85D6-A34A34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6" name="roadmap-year-1">
            <a:extLst xmlns:a="http://schemas.openxmlformats.org/drawingml/2006/main">
              <a:ext uri="{FF2B5EF4-FFF2-40B4-BE49-F238E27FC236}">
                <a16:creationId xmlns:a16="http://schemas.microsoft.com/office/drawing/2014/main" id="{DCB19393-FB4E-4748-B9F1-0F4E036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2027</a:t>
            </a:r>
          </a:p>
        </p:txBody>
      </p:sp>
      <p:sp>
        <p:nvSpPr>
          <p:cNvPr id="17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CD1AA13C-40C7-44CC-B4C6-4234E995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718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School plan rollout</a:t>
            </a:r>
          </a:p>
        </p:txBody>
      </p:sp>
      <p:sp>
        <p:nvSpPr>
          <p:cNvPr id="18" name="roadmap-copy-1">
            <a:extLst xmlns:a="http://schemas.openxmlformats.org/drawingml/2006/main">
              <a:ext uri="{FF2B5EF4-FFF2-40B4-BE49-F238E27FC236}">
                <a16:creationId xmlns:a16="http://schemas.microsoft.com/office/drawing/2014/main" id="{81F6794C-69ED-4C28-AE0F-60E86F1E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Full school package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Suar AI v2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Education partner path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250 paid subscribers</a:t>
            </a:r>
          </a:p>
        </p:txBody>
      </p:sp>
      <p:sp>
        <p:nvSpPr>
          <p:cNvPr id="19" name="roadmap-2028-shadow">
            <a:extLst xmlns:a="http://schemas.openxmlformats.org/drawingml/2006/main">
              <a:ext uri="{FF2B5EF4-FFF2-40B4-BE49-F238E27FC236}">
                <a16:creationId xmlns:a16="http://schemas.microsoft.com/office/drawing/2014/main" id="{E2CC892C-375F-4D7B-9324-7EB85086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20" name="roadmap-2028">
            <a:extLst xmlns:a="http://schemas.openxmlformats.org/drawingml/2006/main">
              <a:ext uri="{FF2B5EF4-FFF2-40B4-BE49-F238E27FC236}">
                <a16:creationId xmlns:a16="http://schemas.microsoft.com/office/drawing/2014/main" id="{49965C9E-4EBC-461C-ADE9-0F49A17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952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1" name="roadmap-year-2">
            <a:extLst xmlns:a="http://schemas.openxmlformats.org/drawingml/2006/main">
              <a:ext uri="{FF2B5EF4-FFF2-40B4-BE49-F238E27FC236}">
                <a16:creationId xmlns:a16="http://schemas.microsoft.com/office/drawing/2014/main" id="{1356E071-A2C5-41F5-8451-F3B30F20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2028</a:t>
            </a:r>
          </a:p>
        </p:txBody>
      </p:sp>
      <p:sp>
        <p:nvSpPr>
          <p:cNvPr id="22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66B6F5DB-A7E1-45E7-ABBD-E6EE599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Institutional scale</a:t>
            </a:r>
          </a:p>
        </p:txBody>
      </p:sp>
      <p:sp>
        <p:nvSpPr>
          <p:cNvPr id="23" name="roadmap-copy-2">
            <a:extLst xmlns:a="http://schemas.openxmlformats.org/drawingml/2006/main">
              <a:ext uri="{FF2B5EF4-FFF2-40B4-BE49-F238E27FC236}">
                <a16:creationId xmlns:a16="http://schemas.microsoft.com/office/drawing/2014/main" id="{92E7B073-85FD-4C76-9CE8-B457839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SSO and API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First B2G contracts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More provinces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500 paid subscribers</a:t>
            </a:r>
          </a:p>
        </p:txBody>
      </p:sp>
    </p:spTree>
    <p:extLst>
      <p:ext uri="{BB962C8B-B14F-4D97-AF65-F5344CB8AC3E}">
        <p14:creationId xmlns:p14="http://schemas.microsoft.com/office/powerpoint/2010/main" val="15025157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1571C5F1-7467-4C39-9091-CA18203C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78981E5D-6F81-4B80-9BE7-483F8D3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E57DA277-E177-4731-BAB4-C8C612D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B883A38C-92A3-4522-8B92-AD3A7595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8E6476F5-C8F1-4010-8F82-4F813A8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12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BF47F64D-1918-4297-AD32-789E90E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TEAM ALIGNMENT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B4FE4DDE-B0F1-47CC-8823-3DA9DEC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The next meeting should produce owners, not just agreement.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1A271386-0AD3-4E78-B87A-A9ADB1B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Use this briefing to decide experiments, channel owners, and the evidence needed before pitching.</a:t>
            </a:r>
          </a:p>
        </p:txBody>
      </p:sp>
      <p:sp>
        <p:nvSpPr>
          <p:cNvPr id="9" name="align-label-0">
            <a:extLst xmlns:a="http://schemas.openxmlformats.org/drawingml/2006/main">
              <a:ext uri="{FF2B5EF4-FFF2-40B4-BE49-F238E27FC236}">
                <a16:creationId xmlns:a16="http://schemas.microsoft.com/office/drawing/2014/main" id="{6875B900-5297-4517-86E1-86CF9058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Pilot teachers</a:t>
            </a:r>
          </a:p>
        </p:txBody>
      </p:sp>
      <p:sp>
        <p:nvSpPr>
          <p:cNvPr id="10" name="align-copy-0">
            <a:extLst xmlns:a="http://schemas.openxmlformats.org/drawingml/2006/main">
              <a:ext uri="{FF2B5EF4-FFF2-40B4-BE49-F238E27FC236}">
                <a16:creationId xmlns:a16="http://schemas.microsoft.com/office/drawing/2014/main" id="{FCDA1D62-E44B-4011-8360-194C4B38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Name 5 to 10 teachers for trial and live demo scheduling.</a:t>
            </a:r>
          </a:p>
        </p:txBody>
      </p:sp>
      <p:sp>
        <p:nvSpPr>
          <p:cNvPr id="11" name="align-label-1">
            <a:extLst xmlns:a="http://schemas.openxmlformats.org/drawingml/2006/main">
              <a:ext uri="{FF2B5EF4-FFF2-40B4-BE49-F238E27FC236}">
                <a16:creationId xmlns:a16="http://schemas.microsoft.com/office/drawing/2014/main" id="{3ECE1582-FF88-481F-8ECC-750D6A98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Content rhythm</a:t>
            </a:r>
          </a:p>
        </p:txBody>
      </p:sp>
      <p:sp>
        <p:nvSpPr>
          <p:cNvPr id="12" name="align-copy-1">
            <a:extLst xmlns:a="http://schemas.openxmlformats.org/drawingml/2006/main">
              <a:ext uri="{FF2B5EF4-FFF2-40B4-BE49-F238E27FC236}">
                <a16:creationId xmlns:a16="http://schemas.microsoft.com/office/drawing/2014/main" id="{82F34E9D-A770-41D5-851A-CA604F2F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Commit to short weekly quiz videos and one blog topic queue.</a:t>
            </a:r>
          </a:p>
        </p:txBody>
      </p:sp>
      <p:sp>
        <p:nvSpPr>
          <p:cNvPr id="13" name="align-label-2">
            <a:extLst xmlns:a="http://schemas.openxmlformats.org/drawingml/2006/main">
              <a:ext uri="{FF2B5EF4-FFF2-40B4-BE49-F238E27FC236}">
                <a16:creationId xmlns:a16="http://schemas.microsoft.com/office/drawing/2014/main" id="{125DD898-F0E2-4D30-91F3-A08665A3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14" name="align-copy-2">
            <a:extLst xmlns:a="http://schemas.openxmlformats.org/drawingml/2006/main">
              <a:ext uri="{FF2B5EF4-FFF2-40B4-BE49-F238E27FC236}">
                <a16:creationId xmlns:a16="http://schemas.microsoft.com/office/drawing/2014/main" id="{AC62C390-0CB0-4907-8A40-BE0F4FE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Track activation, day-7 return, class creation, and upgrade intent.</a:t>
            </a:r>
          </a:p>
        </p:txBody>
      </p:sp>
      <p:sp>
        <p:nvSpPr>
          <p:cNvPr id="15" name="align-label-3">
            <a:extLst xmlns:a="http://schemas.openxmlformats.org/drawingml/2006/main">
              <a:ext uri="{FF2B5EF4-FFF2-40B4-BE49-F238E27FC236}">
                <a16:creationId xmlns:a16="http://schemas.microsoft.com/office/drawing/2014/main" id="{D4CEE350-945D-4862-8AE6-6369621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Partner path</a:t>
            </a:r>
          </a:p>
        </p:txBody>
      </p:sp>
      <p:sp>
        <p:nvSpPr>
          <p:cNvPr id="16" name="align-copy-3">
            <a:extLst xmlns:a="http://schemas.openxmlformats.org/drawingml/2006/main">
              <a:ext uri="{FF2B5EF4-FFF2-40B4-BE49-F238E27FC236}">
                <a16:creationId xmlns:a16="http://schemas.microsoft.com/office/drawing/2014/main" id="{97C5B2DB-69C7-4705-96B8-BCD0A866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01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Prepare one-page school and ministry outreach materials.</a:t>
            </a:r>
          </a:p>
        </p:txBody>
      </p:sp>
      <p:sp>
        <p:nvSpPr>
          <p:cNvPr id="17" name="alignment-rule">
            <a:extLst xmlns:a="http://schemas.openxmlformats.org/drawingml/2006/main">
              <a:ext uri="{FF2B5EF4-FFF2-40B4-BE49-F238E27FC236}">
                <a16:creationId xmlns:a16="http://schemas.microsoft.com/office/drawing/2014/main" id="{DA840F2C-29D7-41E9-AE80-467D87FA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38800"/>
            <a:ext cx="868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Decision rule: every adoption idea needs an owner, a date, and one metric.</a:t>
            </a:r>
          </a:p>
        </p:txBody>
      </p:sp>
    </p:spTree>
    <p:extLst>
      <p:ext uri="{BB962C8B-B14F-4D97-AF65-F5344CB8AC3E}">
        <p14:creationId xmlns:p14="http://schemas.microsoft.com/office/powerpoint/2010/main" val="1597839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!!kwd-wordmark">
            <a:extLst xmlns:a="http://schemas.openxmlformats.org/drawingml/2006/main">
              <a:ext uri="{FF2B5EF4-FFF2-40B4-BE49-F238E27FC236}">
                <a16:creationId xmlns:a16="http://schemas.microsoft.com/office/drawing/2014/main" id="{6452B4FD-3665-4C75-B9A9-AF566432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KWD</a:t>
            </a:r>
          </a:p>
        </p:txBody>
      </p:sp>
      <p:sp>
        <p:nvSpPr>
          <p:cNvPr id="2" name="!!brand-accent">
            <a:extLst xmlns:a="http://schemas.openxmlformats.org/drawingml/2006/main">
              <a:ext uri="{FF2B5EF4-FFF2-40B4-BE49-F238E27FC236}">
                <a16:creationId xmlns:a16="http://schemas.microsoft.com/office/drawing/2014/main" id="{575962DE-8626-4074-9482-2004947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72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solidFill>
              <a:srgbClr val="EAB308"/>
            </a:solidFill>
            <a:prstDash val="solid"/>
          </a:ln>
        </p:spPr>
      </p:sp>
      <p:sp>
        <p:nvSpPr>
          <p:cNvPr id="3" name="!!footer-line">
            <a:extLst xmlns:a="http://schemas.openxmlformats.org/drawingml/2006/main">
              <a:ext uri="{FF2B5EF4-FFF2-40B4-BE49-F238E27FC236}">
                <a16:creationId xmlns:a16="http://schemas.microsoft.com/office/drawing/2014/main" id="{23047520-6AFC-4E5D-8C11-43901354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4" name="!!source-footer">
            <a:extLst xmlns:a="http://schemas.openxmlformats.org/drawingml/2006/main">
              <a:ext uri="{FF2B5EF4-FFF2-40B4-BE49-F238E27FC236}">
                <a16:creationId xmlns:a16="http://schemas.microsoft.com/office/drawing/2014/main" id="{543EA7E0-104E-4929-9316-5CDF51B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Source: User Adoption Plan Study, v1, 11 Jun 2026</a:t>
            </a:r>
          </a:p>
        </p:txBody>
      </p:sp>
      <p:sp>
        <p:nvSpPr>
          <p:cNvPr id="5" name="!!page-footer">
            <a:extLst xmlns:a="http://schemas.openxmlformats.org/drawingml/2006/main">
              <a:ext uri="{FF2B5EF4-FFF2-40B4-BE49-F238E27FC236}">
                <a16:creationId xmlns:a16="http://schemas.microsoft.com/office/drawing/2014/main" id="{214D7684-F223-4F22-AF09-FC3C43CA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7373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37373"/>
                </a:solidFill>
                <a:latin typeface="Aptos"/>
                <a:ea typeface="Aptos"/>
                <a:cs typeface="Aptos"/>
              </a:rPr>
              <a:t>KWD User Adoption Plan / 13</a:t>
            </a:r>
          </a:p>
        </p:txBody>
      </p:sp>
      <p:sp>
        <p:nvSpPr>
          <p:cNvPr id="6" name="!!slide-kicker">
            <a:extLst xmlns:a="http://schemas.openxmlformats.org/drawingml/2006/main">
              <a:ext uri="{FF2B5EF4-FFF2-40B4-BE49-F238E27FC236}">
                <a16:creationId xmlns:a16="http://schemas.microsoft.com/office/drawing/2014/main" id="{561553CA-E4B5-4BC1-AF1D-14C5A182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REHEARSAL</a:t>
            </a:r>
          </a:p>
        </p:txBody>
      </p:sp>
      <p:sp>
        <p:nvSpPr>
          <p:cNvPr id="7" name="!!slide-title">
            <a:extLst xmlns:a="http://schemas.openxmlformats.org/drawingml/2006/main">
              <a:ext uri="{FF2B5EF4-FFF2-40B4-BE49-F238E27FC236}">
                <a16:creationId xmlns:a16="http://schemas.microsoft.com/office/drawing/2014/main" id="{947B99B8-F46F-456C-9C21-DE83DFB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Prepare short answers for the questions judges are likely to ask.</a:t>
            </a:r>
          </a:p>
        </p:txBody>
      </p:sp>
      <p:sp>
        <p:nvSpPr>
          <p:cNvPr id="8" name="!!slide-subtitle">
            <a:extLst xmlns:a="http://schemas.openxmlformats.org/drawingml/2006/main">
              <a:ext uri="{FF2B5EF4-FFF2-40B4-BE49-F238E27FC236}">
                <a16:creationId xmlns:a16="http://schemas.microsoft.com/office/drawing/2014/main" id="{586F9026-838B-4608-8F3B-B31D449A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PDF includes a large bilingual Q and A bank. This slide turns it into a rehearsal checklist.</a:t>
            </a:r>
          </a:p>
        </p:txBody>
      </p:sp>
      <p:sp>
        <p:nvSpPr>
          <p:cNvPr id="9" name="qa-0">
            <a:extLst xmlns:a="http://schemas.openxmlformats.org/drawingml/2006/main">
              <a:ext uri="{FF2B5EF4-FFF2-40B4-BE49-F238E27FC236}">
                <a16:creationId xmlns:a16="http://schemas.microsoft.com/office/drawing/2014/main" id="{27F5CCA1-08B3-4BA2-9757-297EE0F3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0" name="qa-q-0">
            <a:extLst xmlns:a="http://schemas.openxmlformats.org/drawingml/2006/main">
              <a:ext uri="{FF2B5EF4-FFF2-40B4-BE49-F238E27FC236}">
                <a16:creationId xmlns:a16="http://schemas.microsoft.com/office/drawing/2014/main" id="{5CACD9CF-9C3C-4554-BB50-779595E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Why this problem?</a:t>
            </a:r>
          </a:p>
        </p:txBody>
      </p:sp>
      <p:sp>
        <p:nvSpPr>
          <p:cNvPr id="11" name="qa-a-0">
            <a:extLst xmlns:a="http://schemas.openxmlformats.org/drawingml/2006/main">
              <a:ext uri="{FF2B5EF4-FFF2-40B4-BE49-F238E27FC236}">
                <a16:creationId xmlns:a16="http://schemas.microsoft.com/office/drawing/2014/main" id="{7B6265C4-2EDE-4C51-8F4F-FDED6F97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Use the community need, WHO-cited risk, and lack of Khmer-first interactive learning.</a:t>
            </a:r>
          </a:p>
        </p:txBody>
      </p:sp>
      <p:sp>
        <p:nvSpPr>
          <p:cNvPr id="12" name="qa-1">
            <a:extLst xmlns:a="http://schemas.openxmlformats.org/drawingml/2006/main">
              <a:ext uri="{FF2B5EF4-FFF2-40B4-BE49-F238E27FC236}">
                <a16:creationId xmlns:a16="http://schemas.microsoft.com/office/drawing/2014/main" id="{6006866B-4DDA-4847-94D8-E85673DC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3" name="qa-q-1">
            <a:extLst xmlns:a="http://schemas.openxmlformats.org/drawingml/2006/main">
              <a:ext uri="{FF2B5EF4-FFF2-40B4-BE49-F238E27FC236}">
                <a16:creationId xmlns:a16="http://schemas.microsoft.com/office/drawing/2014/main" id="{601523D8-0554-4C56-B88F-E47CE049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What makes KWD different?</a:t>
            </a:r>
          </a:p>
        </p:txBody>
      </p:sp>
      <p:sp>
        <p:nvSpPr>
          <p:cNvPr id="14" name="qa-a-1">
            <a:extLst xmlns:a="http://schemas.openxmlformats.org/drawingml/2006/main">
              <a:ext uri="{FF2B5EF4-FFF2-40B4-BE49-F238E27FC236}">
                <a16:creationId xmlns:a16="http://schemas.microsoft.com/office/drawing/2014/main" id="{58C62A39-6D44-476A-AC04-549E5531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Khmer-first content, class management, games, live competition, and Suar AI.</a:t>
            </a:r>
          </a:p>
        </p:txBody>
      </p:sp>
      <p:sp>
        <p:nvSpPr>
          <p:cNvPr id="15" name="qa-2">
            <a:extLst xmlns:a="http://schemas.openxmlformats.org/drawingml/2006/main">
              <a:ext uri="{FF2B5EF4-FFF2-40B4-BE49-F238E27FC236}">
                <a16:creationId xmlns:a16="http://schemas.microsoft.com/office/drawing/2014/main" id="{FA1D7E9F-3ADD-4525-AB10-AB70698F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6" name="qa-q-2">
            <a:extLst xmlns:a="http://schemas.openxmlformats.org/drawingml/2006/main">
              <a:ext uri="{FF2B5EF4-FFF2-40B4-BE49-F238E27FC236}">
                <a16:creationId xmlns:a16="http://schemas.microsoft.com/office/drawing/2014/main" id="{80E34816-6E46-47DD-9913-43CE791E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How many users now?</a:t>
            </a:r>
          </a:p>
        </p:txBody>
      </p:sp>
      <p:sp>
        <p:nvSpPr>
          <p:cNvPr id="17" name="qa-a-2">
            <a:extLst xmlns:a="http://schemas.openxmlformats.org/drawingml/2006/main">
              <a:ext uri="{FF2B5EF4-FFF2-40B4-BE49-F238E27FC236}">
                <a16:creationId xmlns:a16="http://schemas.microsoft.com/office/drawing/2014/main" id="{03AF583D-8C44-46C7-8CE9-9F7E3E39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Say beta/pre-launch, small tester group, 84% willingness to try, and the year-one target.</a:t>
            </a:r>
          </a:p>
        </p:txBody>
      </p:sp>
      <p:sp>
        <p:nvSpPr>
          <p:cNvPr id="18" name="qa-3">
            <a:extLst xmlns:a="http://schemas.openxmlformats.org/drawingml/2006/main">
              <a:ext uri="{FF2B5EF4-FFF2-40B4-BE49-F238E27FC236}">
                <a16:creationId xmlns:a16="http://schemas.microsoft.com/office/drawing/2014/main" id="{352DACCC-85E5-420C-B3D3-F96DA90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19" name="qa-q-3">
            <a:extLst xmlns:a="http://schemas.openxmlformats.org/drawingml/2006/main">
              <a:ext uri="{FF2B5EF4-FFF2-40B4-BE49-F238E27FC236}">
                <a16:creationId xmlns:a16="http://schemas.microsoft.com/office/drawing/2014/main" id="{A9A85814-0FD7-43BF-97EE-55B99D7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How will users discover it?</a:t>
            </a:r>
          </a:p>
        </p:txBody>
      </p:sp>
      <p:sp>
        <p:nvSpPr>
          <p:cNvPr id="20" name="qa-a-3">
            <a:extLst xmlns:a="http://schemas.openxmlformats.org/drawingml/2006/main">
              <a:ext uri="{FF2B5EF4-FFF2-40B4-BE49-F238E27FC236}">
                <a16:creationId xmlns:a16="http://schemas.microsoft.com/office/drawing/2014/main" id="{AFAEF0A9-71B4-4C64-AA91-FB2872B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Teacher demos, referral loop, short-form quiz content, school events, and partners.</a:t>
            </a:r>
          </a:p>
        </p:txBody>
      </p:sp>
      <p:sp>
        <p:nvSpPr>
          <p:cNvPr id="21" name="qa-4">
            <a:extLst xmlns:a="http://schemas.openxmlformats.org/drawingml/2006/main">
              <a:ext uri="{FF2B5EF4-FFF2-40B4-BE49-F238E27FC236}">
                <a16:creationId xmlns:a16="http://schemas.microsoft.com/office/drawing/2014/main" id="{72F99226-43E6-44F1-B339-5DFB25FB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2" name="qa-q-4">
            <a:extLst xmlns:a="http://schemas.openxmlformats.org/drawingml/2006/main">
              <a:ext uri="{FF2B5EF4-FFF2-40B4-BE49-F238E27FC236}">
                <a16:creationId xmlns:a16="http://schemas.microsoft.com/office/drawing/2014/main" id="{2283D8BE-A998-4E4D-A9A6-914C8E82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Why believe 100 paid subscribers?</a:t>
            </a:r>
          </a:p>
        </p:txBody>
      </p:sp>
      <p:sp>
        <p:nvSpPr>
          <p:cNvPr id="23" name="qa-a-4">
            <a:extLst xmlns:a="http://schemas.openxmlformats.org/drawingml/2006/main">
              <a:ext uri="{FF2B5EF4-FFF2-40B4-BE49-F238E27FC236}">
                <a16:creationId xmlns:a16="http://schemas.microsoft.com/office/drawing/2014/main" id="{0F9AB056-33A6-4EBE-AFC8-692F6252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Tie it to teacher wedge, pricing ladder, pilots, and evidence still being collected.</a:t>
            </a:r>
          </a:p>
        </p:txBody>
      </p:sp>
      <p:sp>
        <p:nvSpPr>
          <p:cNvPr id="24" name="qa-timer">
            <a:extLst xmlns:a="http://schemas.openxmlformats.org/drawingml/2006/main">
              <a:ext uri="{FF2B5EF4-FFF2-40B4-BE49-F238E27FC236}">
                <a16:creationId xmlns:a16="http://schemas.microsoft.com/office/drawing/2014/main" id="{45A381F6-9DA5-4660-89BF-713B864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9144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19050">
            <a:solidFill>
              <a:srgbClr val="0B0B0B"/>
            </a:solidFill>
            <a:prstDash val="solid"/>
          </a:ln>
        </p:spPr>
      </p:sp>
      <p:sp>
        <p:nvSpPr>
          <p:cNvPr id="25" name="qa-timer-text">
            <a:extLst xmlns:a="http://schemas.openxmlformats.org/drawingml/2006/main">
              <a:ext uri="{FF2B5EF4-FFF2-40B4-BE49-F238E27FC236}">
                <a16:creationId xmlns:a16="http://schemas.microsoft.com/office/drawing/2014/main" id="{652B79C2-2597-438D-9242-E22D2622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5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30 sec</a:t>
            </a:r>
          </a:p>
        </p:txBody>
      </p:sp>
      <p:sp>
        <p:nvSpPr>
          <p:cNvPr id="26" name="qa-timer-sub">
            <a:extLst xmlns:a="http://schemas.openxmlformats.org/drawingml/2006/main">
              <a:ext uri="{FF2B5EF4-FFF2-40B4-BE49-F238E27FC236}">
                <a16:creationId xmlns:a16="http://schemas.microsoft.com/office/drawing/2014/main" id="{268F5BC0-C935-412D-BC68-F7E389D9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48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per answer</a:t>
            </a:r>
          </a:p>
        </p:txBody>
      </p:sp>
    </p:spTree>
    <p:extLst>
      <p:ext uri="{BB962C8B-B14F-4D97-AF65-F5344CB8AC3E}">
        <p14:creationId xmlns:p14="http://schemas.microsoft.com/office/powerpoint/2010/main" val="655765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2026-06-15T23:04:43.8140000Z</dcterms:created>
  <dcterms:modified xsi:type="dcterms:W3CDTF">2026-06-15T23:04:43.8150000Z</dcterms:modified>
</coreProperties>
</file>